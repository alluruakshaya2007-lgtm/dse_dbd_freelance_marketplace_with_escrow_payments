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4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75520" y="502920"/>
            <a:ext cx="1371600" cy="1371600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881360" y="2148840"/>
            <a:ext cx="658368" cy="658368"/>
          </a:xfrm>
          <a:prstGeom prst="ellipse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961120" y="4343400"/>
            <a:ext cx="1051560" cy="1051560"/>
          </a:xfrm>
          <a:prstGeom prst="ellipse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52760" y="5074920"/>
            <a:ext cx="438912" cy="438912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8595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FreelanceHub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50592"/>
            <a:ext cx="822960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BED6FF"/>
                </a:solidFill>
                <a:latin typeface="Aptos"/>
              </a:rPr>
              <a:t>Freelance Marketplace with Escrow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319272"/>
            <a:ext cx="71323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E8EDF7"/>
                </a:solidFill>
                <a:latin typeface="Aptos"/>
              </a:rPr>
              <a:t>A centralized platform for discovering freelance work and managing projects from proposal to completion.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820" y="4185666"/>
            <a:ext cx="777240" cy="50292"/>
          </a:xfrm>
          <a:prstGeom prst="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4594520"/>
            <a:ext cx="777240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dirty="0">
                <a:solidFill>
                  <a:srgbClr val="FFFFFF"/>
                </a:solidFill>
                <a:latin typeface="Aptos"/>
              </a:rPr>
              <a:t>Team Members:</a:t>
            </a:r>
            <a:br>
              <a:rPr lang="en-IN" sz="1200" b="1" dirty="0">
                <a:solidFill>
                  <a:srgbClr val="FFFFFF"/>
                </a:solidFill>
                <a:latin typeface="Aptos"/>
              </a:rPr>
            </a:br>
            <a:r>
              <a:rPr lang="en-IN" sz="1200" b="1" dirty="0">
                <a:solidFill>
                  <a:srgbClr val="FFFFFF"/>
                </a:solidFill>
                <a:latin typeface="Aptos"/>
              </a:rPr>
              <a:t>2520030189-Akshaya</a:t>
            </a:r>
            <a:br>
              <a:rPr lang="en-IN" sz="1200" b="1" dirty="0">
                <a:solidFill>
                  <a:srgbClr val="FFFFFF"/>
                </a:solidFill>
                <a:latin typeface="Aptos"/>
              </a:rPr>
            </a:br>
            <a:r>
              <a:rPr lang="en-IN" sz="1200" b="1" dirty="0">
                <a:solidFill>
                  <a:srgbClr val="FFFFFF"/>
                </a:solidFill>
                <a:latin typeface="Aptos"/>
              </a:rPr>
              <a:t>2520030211-Bhaarathi</a:t>
            </a:r>
            <a:br>
              <a:rPr lang="en-IN" sz="1200" b="1" dirty="0">
                <a:solidFill>
                  <a:srgbClr val="FFFFFF"/>
                </a:solidFill>
                <a:latin typeface="Aptos"/>
              </a:rPr>
            </a:br>
            <a:r>
              <a:rPr lang="en-IN" sz="1200" b="1" dirty="0">
                <a:solidFill>
                  <a:srgbClr val="FFFFFF"/>
                </a:solidFill>
                <a:latin typeface="Aptos"/>
              </a:rPr>
              <a:t>2520030263-Madhan</a:t>
            </a:r>
          </a:p>
          <a:p>
            <a:pPr algn="l"/>
            <a:endParaRPr sz="12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5601032"/>
            <a:ext cx="7772400" cy="55399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dirty="0">
                <a:solidFill>
                  <a:srgbClr val="BECADF"/>
                </a:solidFill>
                <a:latin typeface="Aptos"/>
              </a:rPr>
              <a:t>Guide:</a:t>
            </a:r>
            <a:r>
              <a:rPr lang="en-IN" sz="1000" b="0" dirty="0" err="1">
                <a:solidFill>
                  <a:srgbClr val="BECADF"/>
                </a:solidFill>
                <a:latin typeface="Aptos"/>
              </a:rPr>
              <a:t>Dr.S.Spandana</a:t>
            </a:r>
            <a:r>
              <a:rPr sz="1000" b="0" dirty="0">
                <a:solidFill>
                  <a:srgbClr val="BECADF"/>
                </a:solidFill>
                <a:latin typeface="Aptos"/>
              </a:rPr>
              <a:t>  |  Department of CSE, KL University</a:t>
            </a:r>
            <a:endParaRPr lang="en-IN" sz="1000" b="0" dirty="0">
              <a:solidFill>
                <a:srgbClr val="BECADF"/>
              </a:solidFill>
              <a:latin typeface="Aptos"/>
            </a:endParaRPr>
          </a:p>
          <a:p>
            <a:pPr algn="l"/>
            <a:r>
              <a:rPr lang="en-IN" sz="1000" dirty="0">
                <a:solidFill>
                  <a:srgbClr val="BECADF"/>
                </a:solidFill>
                <a:latin typeface="Aptos"/>
              </a:rPr>
              <a:t>Section-7 </a:t>
            </a:r>
            <a:br>
              <a:rPr lang="en-IN" sz="1000" dirty="0">
                <a:solidFill>
                  <a:srgbClr val="BECADF"/>
                </a:solidFill>
                <a:latin typeface="Aptos"/>
              </a:rPr>
            </a:br>
            <a:r>
              <a:rPr lang="en-IN" sz="1000" dirty="0">
                <a:solidFill>
                  <a:srgbClr val="BECADF"/>
                </a:solidFill>
                <a:latin typeface="Aptos"/>
              </a:rPr>
              <a:t>Batch-14</a:t>
            </a:r>
            <a:endParaRPr sz="1000" b="0" dirty="0">
              <a:solidFill>
                <a:srgbClr val="BECAD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BECAD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What the platform brings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49377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>
                <a:solidFill>
                  <a:srgbClr val="12203A"/>
                </a:solidFill>
                <a:latin typeface="Aptos"/>
              </a:rPr>
              <a:t>One workflow for two roles: clients who need work and freelancers who deliver it.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587752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5029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73348"/>
                </a:solidFill>
                <a:latin typeface="Aptos"/>
              </a:rPr>
              <a:t>Clients publish project requirements, budgets, and deadlines.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182112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063240"/>
            <a:ext cx="5029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73348"/>
                </a:solidFill>
                <a:latin typeface="Aptos"/>
              </a:rPr>
              <a:t>Freelancers discover opportunities and submit proposals.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776472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5029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73348"/>
                </a:solidFill>
                <a:latin typeface="Aptos"/>
              </a:rPr>
              <a:t>Clients review proposals and select a freelancer.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370832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4251960"/>
            <a:ext cx="5029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73348"/>
                </a:solidFill>
                <a:latin typeface="Aptos"/>
              </a:rPr>
              <a:t>The project is organized through contracts and milestones.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965192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846320"/>
            <a:ext cx="502920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273348"/>
                </a:solidFill>
                <a:latin typeface="Aptos"/>
              </a:rPr>
              <a:t>Work approval and simulated escrow status are tracked.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508760"/>
            <a:ext cx="2103120" cy="141732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92240" y="1508760"/>
            <a:ext cx="64008" cy="1417320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93407" y="1627631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2011680"/>
            <a:ext cx="17190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Post work
Review proposals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508760"/>
            <a:ext cx="2103120" cy="1417320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508760"/>
            <a:ext cx="64008" cy="1417320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45168" y="1627631"/>
            <a:ext cx="1737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FREELANCER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011680"/>
            <a:ext cx="1719072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Find work
Submit proposals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95360" y="2212848"/>
            <a:ext cx="502920" cy="0"/>
          </a:xfrm>
          <a:prstGeom prst="line">
            <a:avLst/>
          </a:prstGeom>
          <a:ln w="25400">
            <a:solidFill>
              <a:srgbClr val="1899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903720" y="3703320"/>
            <a:ext cx="3886200" cy="960120"/>
          </a:xfrm>
          <a:prstGeom prst="roundRect">
            <a:avLst/>
          </a:prstGeom>
          <a:solidFill>
            <a:srgbClr val="F3ECFB"/>
          </a:solidFill>
          <a:ln w="15240">
            <a:solidFill>
              <a:srgbClr val="7F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0" y="3858768"/>
            <a:ext cx="361188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7F4DB7"/>
                </a:solidFill>
                <a:latin typeface="Aptos"/>
              </a:rPr>
              <a:t>SHARED PROJECT WORKSPACE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224528"/>
            <a:ext cx="3611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273348"/>
                </a:solidFill>
                <a:latin typeface="Aptos"/>
              </a:rPr>
              <a:t>Contracts • Milestones • Messages • Reviews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640" y="5166360"/>
            <a:ext cx="2880360" cy="384048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434071" y="5175504"/>
            <a:ext cx="2825496" cy="365759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568D2"/>
                </a:solidFill>
                <a:latin typeface="Aptos"/>
              </a:rPr>
              <a:t>END-TO-END PROJECT TRACKING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Challenges across the freelance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074920" cy="1536192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64008" cy="153619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627631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Finding the right match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11680"/>
            <a:ext cx="4690872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Clients need to compare proposals; freelancers need relevant opportunities.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08760"/>
            <a:ext cx="5074920" cy="1536192"/>
          </a:xfrm>
          <a:prstGeom prst="roundRect">
            <a:avLst/>
          </a:prstGeom>
          <a:solidFill>
            <a:srgbClr val="F3ECFB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508760"/>
            <a:ext cx="64008" cy="1536192"/>
          </a:xfrm>
          <a:prstGeom prst="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7" y="1627631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Unstructured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011680"/>
            <a:ext cx="4690872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Requirements, deliverables, and deadlines can be difficult to follow.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074920" cy="1536192"/>
          </a:xfrm>
          <a:prstGeom prst="roundRect">
            <a:avLst/>
          </a:prstGeom>
          <a:solidFill>
            <a:srgbClr val="FFF4E2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" y="3474720"/>
            <a:ext cx="64008" cy="1536192"/>
          </a:xfrm>
          <a:prstGeom prst="rect">
            <a:avLst/>
          </a:prstGeom>
          <a:solidFill>
            <a:srgbClr val="DA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" y="3593591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Payment uncertainty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977639"/>
            <a:ext cx="4690872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Freelancers may face delayed payments; clients need an approval process.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474720"/>
            <a:ext cx="5074920" cy="1536192"/>
          </a:xfrm>
          <a:prstGeom prst="roundRect">
            <a:avLst/>
          </a:prstGeom>
          <a:solidFill>
            <a:srgbClr val="E4F7F7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63640" y="3474720"/>
            <a:ext cx="64008" cy="1536192"/>
          </a:xfrm>
          <a:prstGeom prst="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64807" y="3593591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Fragmented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7" y="3977639"/>
            <a:ext cx="4690872" cy="941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Project updates, decisions, and transaction details may be spread across tools.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5623560"/>
            <a:ext cx="10241280" cy="502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733288"/>
            <a:ext cx="99669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2203A"/>
                </a:solidFill>
                <a:latin typeface="Aptos"/>
              </a:rPr>
              <a:t>Project need: a centralized, traceable process for work, communication, and payment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Designed around the needs of both sides of 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08760"/>
            <a:ext cx="3456432" cy="1572768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64008" cy="1572768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1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72384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Bring clients and freelancers into one marketplace.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508760"/>
            <a:ext cx="3456432" cy="1572768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1508760"/>
            <a:ext cx="64008" cy="1572768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627631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Discover &amp; apply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3072384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Enable project browsing and proposal submission.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1508760"/>
            <a:ext cx="3456432" cy="1572768"/>
          </a:xfrm>
          <a:prstGeom prst="roundRect">
            <a:avLst/>
          </a:prstGeom>
          <a:solidFill>
            <a:srgbClr val="F3ECFB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94192" y="1508760"/>
            <a:ext cx="64008" cy="1572768"/>
          </a:xfrm>
          <a:prstGeom prst="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1627631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Agree clearly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3072384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Record the selected freelancer and project terms.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502152"/>
            <a:ext cx="3456432" cy="1572768"/>
          </a:xfrm>
          <a:prstGeom prst="roundRect">
            <a:avLst/>
          </a:prstGeom>
          <a:solidFill>
            <a:srgbClr val="E4F7F7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502152"/>
            <a:ext cx="64008" cy="1572768"/>
          </a:xfrm>
          <a:prstGeom prst="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621024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Track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005072"/>
            <a:ext cx="3072384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Organize work into milestones with status updates.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712" y="3502152"/>
            <a:ext cx="3456432" cy="1572768"/>
          </a:xfrm>
          <a:prstGeom prst="roundRect">
            <a:avLst/>
          </a:prstGeom>
          <a:solidFill>
            <a:srgbClr val="FFF4E2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53712" y="3502152"/>
            <a:ext cx="64008" cy="1572768"/>
          </a:xfrm>
          <a:prstGeom prst="rect">
            <a:avLst/>
          </a:prstGeom>
          <a:solidFill>
            <a:srgbClr val="DA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621024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Track payment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005072"/>
            <a:ext cx="3072384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Represent funding and release through simulated escrow.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3502152"/>
            <a:ext cx="3456432" cy="1572768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94192" y="3502152"/>
            <a:ext cx="64008" cy="1572768"/>
          </a:xfrm>
          <a:prstGeom prst="rect">
            <a:avLst/>
          </a:prstGeom>
          <a:solidFill>
            <a:srgbClr val="CC4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3621024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Build 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4005072"/>
            <a:ext cx="3072384" cy="97840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Support profiles, reviews, messages, and dispute records.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A modular marketplace with a clear project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508760"/>
            <a:ext cx="3456432" cy="1600200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" y="1508760"/>
            <a:ext cx="64008" cy="1600200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27631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Marketplace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72384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Create, browse, search, and view projects.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53712" y="1508760"/>
            <a:ext cx="3456432" cy="1600200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53712" y="1508760"/>
            <a:ext cx="64008" cy="1600200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627631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Proposal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3072384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Submit a cover message, bid amount, and delivery estimate.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94192" y="1508760"/>
            <a:ext cx="3456432" cy="1600200"/>
          </a:xfrm>
          <a:prstGeom prst="roundRect">
            <a:avLst/>
          </a:prstGeom>
          <a:solidFill>
            <a:srgbClr val="F3ECFB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94192" y="1508760"/>
            <a:ext cx="64008" cy="1600200"/>
          </a:xfrm>
          <a:prstGeom prst="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0" y="1627631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Contract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3072384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Keep the selected project terms and participants together.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447288"/>
            <a:ext cx="3456432" cy="1600200"/>
          </a:xfrm>
          <a:prstGeom prst="roundRect">
            <a:avLst/>
          </a:prstGeom>
          <a:solidFill>
            <a:srgbClr val="E4F7F7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" y="3447288"/>
            <a:ext cx="64008" cy="1600200"/>
          </a:xfrm>
          <a:prstGeom prst="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566160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Milestone tracking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950208"/>
            <a:ext cx="3072384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Follow deliverables through pending, funded, submitted, and approved states.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712" y="3447288"/>
            <a:ext cx="3456432" cy="1600200"/>
          </a:xfrm>
          <a:prstGeom prst="roundRect">
            <a:avLst/>
          </a:prstGeom>
          <a:solidFill>
            <a:srgbClr val="FFF4E2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53712" y="3447288"/>
            <a:ext cx="64008" cy="1600200"/>
          </a:xfrm>
          <a:prstGeom prst="rect">
            <a:avLst/>
          </a:prstGeom>
          <a:solidFill>
            <a:srgbClr val="DA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54880" y="3566160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Escrow tracking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950208"/>
            <a:ext cx="3072384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Record simulated funding and payment release status.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94192" y="3447288"/>
            <a:ext cx="3456432" cy="1600200"/>
          </a:xfrm>
          <a:prstGeom prst="roundRect">
            <a:avLst/>
          </a:prstGeom>
          <a:solidFill>
            <a:srgbClr val="FFEBEE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94192" y="3447288"/>
            <a:ext cx="64008" cy="1600200"/>
          </a:xfrm>
          <a:prstGeom prst="rect">
            <a:avLst/>
          </a:prstGeom>
          <a:solidFill>
            <a:srgbClr val="CC4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0" y="3566160"/>
            <a:ext cx="309067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Collaboration &amp;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950208"/>
            <a:ext cx="3072384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Support messages, reviews, and dispute reporting.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7748B"/>
                </a:solidFill>
                <a:latin typeface="Aptos"/>
              </a:rPr>
              <a:t>The platform supports project coordination; escrow is a prototype simulation, not a real payment service.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From project posting to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737360"/>
            <a:ext cx="2542032" cy="1033271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356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76656" y="1856231"/>
            <a:ext cx="438912" cy="310896"/>
          </a:xfrm>
          <a:prstGeom prst="round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1865375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192024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Post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207568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7748B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737360"/>
            <a:ext cx="2542032" cy="1033271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2A9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02736" y="1856231"/>
            <a:ext cx="438912" cy="310896"/>
          </a:xfrm>
          <a:prstGeom prst="round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8" y="1865375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7368" y="192024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Submit proposal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07568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7748B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1737360"/>
            <a:ext cx="2542032" cy="1033271"/>
          </a:xfrm>
          <a:prstGeom prst="roundRect">
            <a:avLst/>
          </a:prstGeom>
          <a:solidFill>
            <a:srgbClr val="F3ECFB"/>
          </a:solidFill>
          <a:ln w="15240">
            <a:solidFill>
              <a:srgbClr val="7F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528816" y="1856231"/>
            <a:ext cx="438912" cy="310896"/>
          </a:xfrm>
          <a:prstGeom prst="round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56248" y="1865375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192024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Select freelancer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79408" y="2075688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7748B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45168" y="1737360"/>
            <a:ext cx="2542032" cy="1033271"/>
          </a:xfrm>
          <a:prstGeom prst="roundRect">
            <a:avLst/>
          </a:prstGeom>
          <a:solidFill>
            <a:srgbClr val="FFF4E2"/>
          </a:solidFill>
          <a:ln w="15240">
            <a:solidFill>
              <a:srgbClr val="DA8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454896" y="1856231"/>
            <a:ext cx="438912" cy="310896"/>
          </a:xfrm>
          <a:prstGeom prst="roundRect">
            <a:avLst/>
          </a:prstGeom>
          <a:solidFill>
            <a:srgbClr val="DA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82328" y="1865375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9528" y="1920240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Create contract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30752"/>
            <a:ext cx="2542032" cy="1033271"/>
          </a:xfrm>
          <a:prstGeom prst="roundRect">
            <a:avLst/>
          </a:prstGeom>
          <a:solidFill>
            <a:srgbClr val="E4F7F7"/>
          </a:solidFill>
          <a:ln w="15240">
            <a:solidFill>
              <a:srgbClr val="1899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76656" y="3849624"/>
            <a:ext cx="438912" cy="310896"/>
          </a:xfrm>
          <a:prstGeom prst="round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4088" y="3858768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1288" y="3913632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Fund milestone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27248" y="4069080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7748B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93008" y="3730752"/>
            <a:ext cx="2542032" cy="1033271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356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602736" y="3849624"/>
            <a:ext cx="438912" cy="310896"/>
          </a:xfrm>
          <a:prstGeom prst="round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30168" y="3858768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7368" y="3913632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Submit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4069080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7748B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3730752"/>
            <a:ext cx="2542032" cy="1033271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2A9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528816" y="3849624"/>
            <a:ext cx="438912" cy="310896"/>
          </a:xfrm>
          <a:prstGeom prst="round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56248" y="3858768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13448" y="3913632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Review &amp; approve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79408" y="4069080"/>
            <a:ext cx="3200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67748B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45168" y="3730752"/>
            <a:ext cx="2542032" cy="1033271"/>
          </a:xfrm>
          <a:prstGeom prst="roundRect">
            <a:avLst/>
          </a:prstGeom>
          <a:solidFill>
            <a:srgbClr val="F3ECFB"/>
          </a:solidFill>
          <a:ln w="15240">
            <a:solidFill>
              <a:srgbClr val="7F4D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454896" y="3849624"/>
            <a:ext cx="438912" cy="310896"/>
          </a:xfrm>
          <a:prstGeom prst="round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82328" y="3858768"/>
            <a:ext cx="38404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9528" y="3913632"/>
            <a:ext cx="1783080" cy="5669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12203A"/>
                </a:solidFill>
                <a:latin typeface="Aptos"/>
              </a:rPr>
              <a:t>Release payment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715000"/>
            <a:ext cx="101498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 dirty="0">
                <a:solidFill>
                  <a:srgbClr val="67748B"/>
                </a:solidFill>
                <a:latin typeface="Aptos"/>
              </a:rPr>
              <a:t>Milestones can repeat for each deliverable; payment release follows the approval step in the simulated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Logical flow of the web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6392" y="2542032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2A9765"/>
                </a:solidFill>
                <a:latin typeface="Apto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3191256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3568D2"/>
                </a:solidFill>
                <a:latin typeface="Aptos"/>
              </a:rP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36392" y="3593591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DA892B"/>
                </a:solidFill>
                <a:latin typeface="Aptos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593591"/>
            <a:ext cx="4434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2203A"/>
                </a:solidFill>
                <a:latin typeface="Aptos"/>
              </a:rPr>
              <a:t>Node.js + Express • REST API routes and application logic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4242816"/>
            <a:ext cx="731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3568D2"/>
                </a:solidFill>
                <a:latin typeface="Aptos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36392" y="4645152"/>
            <a:ext cx="13258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7F4DB7"/>
                </a:solidFill>
                <a:latin typeface="Aptos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645152"/>
            <a:ext cx="4434840" cy="4114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12203A"/>
                </a:solidFill>
                <a:latin typeface="Aptos"/>
              </a:rPr>
              <a:t>JSON file • persistent application records • no MySQL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5760720"/>
            <a:ext cx="4846320" cy="365760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85032" y="5769864"/>
            <a:ext cx="4791456" cy="34747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3568D2"/>
                </a:solidFill>
                <a:latin typeface="Aptos"/>
              </a:rPr>
              <a:t>Request → API logic → JSON read/write → Response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F87A840-92B3-C762-9E91-DDEB59EDB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79" y="1234440"/>
            <a:ext cx="8260579" cy="55070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Functional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53312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53312"/>
            <a:ext cx="64008" cy="94183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72184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Authentication &amp;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56232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Register, log in, roles, and profiles.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353312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79" y="1353312"/>
            <a:ext cx="64008" cy="941832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7" y="1472184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7" y="1856232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Create, browse, search, update, and cancel projects.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523744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523744"/>
            <a:ext cx="64008" cy="941832"/>
          </a:xfrm>
          <a:prstGeom prst="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642615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Proposals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3026663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Submit bids and manage proposal status.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2523744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79" y="2523744"/>
            <a:ext cx="64008" cy="941832"/>
          </a:xfrm>
          <a:prstGeom prst="rect">
            <a:avLst/>
          </a:prstGeom>
          <a:solidFill>
            <a:srgbClr val="DA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7" y="2642615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Contracts &amp; Milestones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7" y="3026663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Record agreements and track deliverables.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94176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694176"/>
            <a:ext cx="64008" cy="941832"/>
          </a:xfrm>
          <a:prstGeom prst="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3813048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197096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Track simulated escrow funding and release.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3694176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79" y="3694176"/>
            <a:ext cx="64008" cy="94183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6247" y="3813048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Messages &amp; 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7" y="4197096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Support user communication and updates.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64608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864608"/>
            <a:ext cx="64008" cy="941832"/>
          </a:xfrm>
          <a:prstGeom prst="rect">
            <a:avLst/>
          </a:prstGeom>
          <a:solidFill>
            <a:srgbClr val="CC4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" y="4983480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Reviews &amp; Disputes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367528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Capture feedback and issue reports.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79" y="4864608"/>
            <a:ext cx="5120640" cy="9418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55079" y="4864608"/>
            <a:ext cx="64008" cy="941832"/>
          </a:xfrm>
          <a:prstGeom prst="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56247" y="4983480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7" y="5367528"/>
            <a:ext cx="4736592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Summarize activity and project status.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Main records used to organize marketplace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51206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325880"/>
            <a:ext cx="64008" cy="932688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444752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2203A"/>
                </a:solidFill>
                <a:latin typeface="Aptos"/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1828800"/>
            <a:ext cx="4736592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73348"/>
                </a:solidFill>
                <a:latin typeface="Aptos"/>
              </a:rPr>
              <a:t>Identity, role, contact details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79" y="1325880"/>
            <a:ext cx="51206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55079" y="1325880"/>
            <a:ext cx="64008" cy="932688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6247" y="1444752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2203A"/>
                </a:solidFill>
                <a:latin typeface="Aptos"/>
              </a:rPr>
              <a:t>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7" y="1828800"/>
            <a:ext cx="4736592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73348"/>
                </a:solidFill>
                <a:latin typeface="Aptos"/>
              </a:rPr>
              <a:t>Owner, title, description, budget, deadline, status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496312"/>
            <a:ext cx="51206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" y="2496312"/>
            <a:ext cx="64008" cy="932688"/>
          </a:xfrm>
          <a:prstGeom prst="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" y="2615184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2203A"/>
                </a:solidFill>
                <a:latin typeface="Aptos"/>
              </a:rP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2999232"/>
            <a:ext cx="4736592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73348"/>
                </a:solidFill>
                <a:latin typeface="Aptos"/>
              </a:rPr>
              <a:t>Project, freelancer, bid, cover letter, status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2496312"/>
            <a:ext cx="51206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55079" y="2496312"/>
            <a:ext cx="64008" cy="932688"/>
          </a:xfrm>
          <a:prstGeom prst="rect">
            <a:avLst/>
          </a:prstGeom>
          <a:solidFill>
            <a:srgbClr val="DA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56247" y="2615184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2203A"/>
                </a:solidFill>
                <a:latin typeface="Aptos"/>
              </a:rPr>
              <a:t>CONTRACT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6247" y="2999232"/>
            <a:ext cx="4736592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73348"/>
                </a:solidFill>
                <a:latin typeface="Aptos"/>
              </a:rPr>
              <a:t>Project, client, freelancer, terms,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666744"/>
            <a:ext cx="51206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666744"/>
            <a:ext cx="64008" cy="932688"/>
          </a:xfrm>
          <a:prstGeom prst="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3785615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2203A"/>
                </a:solidFill>
                <a:latin typeface="Aptos"/>
              </a:rPr>
              <a:t>MILESTONE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" y="4169663"/>
            <a:ext cx="4736592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73348"/>
                </a:solidFill>
                <a:latin typeface="Aptos"/>
              </a:rPr>
              <a:t>Contract, deliverable, due date, amount, status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79" y="3666744"/>
            <a:ext cx="51206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55079" y="3666744"/>
            <a:ext cx="64008" cy="932688"/>
          </a:xfrm>
          <a:prstGeom prst="rect">
            <a:avLst/>
          </a:prstGeom>
          <a:solidFill>
            <a:srgbClr val="CC4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56247" y="3785615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2203A"/>
                </a:solidFill>
                <a:latin typeface="Aptos"/>
              </a:rPr>
              <a:t>PAYMENT / ESCROW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7" y="4169663"/>
            <a:ext cx="4736592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73348"/>
                </a:solidFill>
                <a:latin typeface="Aptos"/>
              </a:rPr>
              <a:t>Amount, linked contract/payment, status, release time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4837176"/>
            <a:ext cx="5120640" cy="9326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77240" y="4837176"/>
            <a:ext cx="64008" cy="932688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78408" y="4956048"/>
            <a:ext cx="475487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2203A"/>
                </a:solidFill>
                <a:latin typeface="Aptos"/>
              </a:rPr>
              <a:t>MESSAGE / REVIEW / DISPUTE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" y="5340096"/>
            <a:ext cx="4736592" cy="3383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273348"/>
                </a:solidFill>
                <a:latin typeface="Aptos"/>
              </a:rPr>
              <a:t>Communication, feedback, and issue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4983480"/>
            <a:ext cx="4663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67748B"/>
                </a:solidFill>
                <a:latin typeface="Aptos"/>
              </a:rPr>
              <a:t>JSON storage keeps these records in a file for this prototype. It is not a relational 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Implementation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Demonstrate working flows with actual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1663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64008" cy="3611880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1536192"/>
            <a:ext cx="4800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Implementation areas</a:t>
            </a:r>
          </a:p>
        </p:txBody>
      </p:sp>
      <p:sp>
        <p:nvSpPr>
          <p:cNvPr id="9" name="Oval 8"/>
          <p:cNvSpPr/>
          <p:nvPr/>
        </p:nvSpPr>
        <p:spPr>
          <a:xfrm>
            <a:off x="950976" y="2039112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3856" y="1920240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Role-based client and freelancer flows</a:t>
            </a:r>
          </a:p>
        </p:txBody>
      </p:sp>
      <p:sp>
        <p:nvSpPr>
          <p:cNvPr id="11" name="Oval 10"/>
          <p:cNvSpPr/>
          <p:nvPr/>
        </p:nvSpPr>
        <p:spPr>
          <a:xfrm>
            <a:off x="950976" y="2423160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2304288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Project and proposal APIs</a:t>
            </a:r>
          </a:p>
        </p:txBody>
      </p:sp>
      <p:sp>
        <p:nvSpPr>
          <p:cNvPr id="13" name="Oval 12"/>
          <p:cNvSpPr/>
          <p:nvPr/>
        </p:nvSpPr>
        <p:spPr>
          <a:xfrm>
            <a:off x="950976" y="2807208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2688336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Contract and milestone records</a:t>
            </a:r>
          </a:p>
        </p:txBody>
      </p:sp>
      <p:sp>
        <p:nvSpPr>
          <p:cNvPr id="15" name="Oval 14"/>
          <p:cNvSpPr/>
          <p:nvPr/>
        </p:nvSpPr>
        <p:spPr>
          <a:xfrm>
            <a:off x="950976" y="3191256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3072384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Simulated payment status handling</a:t>
            </a:r>
          </a:p>
        </p:txBody>
      </p:sp>
      <p:sp>
        <p:nvSpPr>
          <p:cNvPr id="17" name="Oval 16"/>
          <p:cNvSpPr/>
          <p:nvPr/>
        </p:nvSpPr>
        <p:spPr>
          <a:xfrm>
            <a:off x="950976" y="3575304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3456432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Messaging, reviews, and disputes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417320"/>
            <a:ext cx="516636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1417320"/>
            <a:ext cx="64008" cy="3611880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7" y="1536192"/>
            <a:ext cx="4800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Suggested expo test sequence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2039112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65976" y="1920240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Log in with a demo client or freelancer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2423160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65976" y="2304288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Create or browse a project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2807208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65976" y="2688336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Submit and review a proposal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3191256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65976" y="3072384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Show contract and milestone status</a:t>
            </a:r>
          </a:p>
        </p:txBody>
      </p:sp>
      <p:sp>
        <p:nvSpPr>
          <p:cNvPr id="30" name="Oval 29"/>
          <p:cNvSpPr/>
          <p:nvPr/>
        </p:nvSpPr>
        <p:spPr>
          <a:xfrm>
            <a:off x="6483096" y="3575304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65976" y="3456432"/>
            <a:ext cx="454456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273348"/>
                </a:solidFill>
                <a:latin typeface="Aptos"/>
              </a:rPr>
              <a:t>Demonstrate simulated payment tracking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" y="5440680"/>
            <a:ext cx="8229600" cy="438912"/>
          </a:xfrm>
          <a:prstGeom prst="roundRect">
            <a:avLst/>
          </a:prstGeom>
          <a:solidFill>
            <a:srgbClr val="FFF4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993391" y="5449824"/>
            <a:ext cx="8174736" cy="42062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A892B"/>
                </a:solidFill>
                <a:latin typeface="Aptos"/>
              </a:rPr>
              <a:t>Insert real UI screenshots and Postman responses here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989320"/>
            <a:ext cx="10058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>
                <a:solidFill>
                  <a:srgbClr val="67748B"/>
                </a:solidFill>
                <a:latin typeface="Aptos"/>
              </a:rPr>
              <a:t>Only mark a feature as tested after confirming it works in your current build.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Tools selected for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353312"/>
            <a:ext cx="10058400" cy="667512"/>
          </a:xfrm>
          <a:prstGeom prst="roundRect">
            <a:avLst/>
          </a:prstGeom>
          <a:solidFill>
            <a:srgbClr val="E8F0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1560" y="1353312"/>
            <a:ext cx="64008" cy="66751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52728" y="1472184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React.js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856232"/>
            <a:ext cx="9674352" cy="73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Builds the browser-based user interface.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212848"/>
            <a:ext cx="10058400" cy="667512"/>
          </a:xfrm>
          <a:prstGeom prst="roundRect">
            <a:avLst/>
          </a:prstGeom>
          <a:solidFill>
            <a:srgbClr val="E7F7EE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51560" y="2212848"/>
            <a:ext cx="64008" cy="667512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52728" y="2331720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Node.js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2728" y="2715768"/>
            <a:ext cx="9674352" cy="73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Runs server-side logic and exposes REST endpoints.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072384"/>
            <a:ext cx="10058400" cy="667512"/>
          </a:xfrm>
          <a:prstGeom prst="roundRect">
            <a:avLst/>
          </a:prstGeom>
          <a:solidFill>
            <a:srgbClr val="F3ECFB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51560" y="3072384"/>
            <a:ext cx="64008" cy="667512"/>
          </a:xfrm>
          <a:prstGeom prst="rect">
            <a:avLst/>
          </a:prstGeom>
          <a:solidFill>
            <a:srgbClr val="7F4D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52728" y="3191256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JSON file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2728" y="3575304"/>
            <a:ext cx="9674352" cy="73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Persists prototype data without configuring MySQL.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931920"/>
            <a:ext cx="10058400" cy="667512"/>
          </a:xfrm>
          <a:prstGeom prst="roundRect">
            <a:avLst/>
          </a:prstGeom>
          <a:solidFill>
            <a:srgbClr val="FFF4E2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51560" y="3931920"/>
            <a:ext cx="64008" cy="667512"/>
          </a:xfrm>
          <a:prstGeom prst="rect">
            <a:avLst/>
          </a:prstGeom>
          <a:solidFill>
            <a:srgbClr val="DA8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52728" y="4050791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Postman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2728" y="4434840"/>
            <a:ext cx="9674352" cy="73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Helps send requests and inspect API responses.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791456"/>
            <a:ext cx="10058400" cy="667512"/>
          </a:xfrm>
          <a:prstGeom prst="roundRect">
            <a:avLst/>
          </a:prstGeom>
          <a:solidFill>
            <a:srgbClr val="E4F7F7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1560" y="4791456"/>
            <a:ext cx="64008" cy="667512"/>
          </a:xfrm>
          <a:prstGeom prst="rect">
            <a:avLst/>
          </a:prstGeom>
          <a:solidFill>
            <a:srgbClr val="1899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252728" y="4910328"/>
            <a:ext cx="9692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2203A"/>
                </a:solidFill>
                <a:latin typeface="Aptos"/>
              </a:rPr>
              <a:t>Git &amp; GitHub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5294376"/>
            <a:ext cx="9674352" cy="7315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273348"/>
                </a:solidFill>
                <a:latin typeface="Aptos"/>
              </a:rPr>
              <a:t>Support version control and source-code sharing.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806440"/>
            <a:ext cx="9875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67748B"/>
                </a:solidFill>
                <a:latin typeface="Aptos"/>
              </a:rPr>
              <a:t>Note: JSON file storage is suitable for a prototype; production deployment would need stronger persistence and security.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12203A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896112"/>
            <a:ext cx="1078992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67748B"/>
                </a:solidFill>
                <a:latin typeface="Aptos"/>
              </a:rPr>
              <a:t>Summary and next development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73952"/>
            <a:ext cx="41148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1">
                <a:solidFill>
                  <a:srgbClr val="67748B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50749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17320"/>
            <a:ext cx="64008" cy="3611880"/>
          </a:xfrm>
          <a:prstGeom prst="rect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536192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Conclusion</a:t>
            </a:r>
          </a:p>
        </p:txBody>
      </p:sp>
      <p:sp>
        <p:nvSpPr>
          <p:cNvPr id="9" name="Oval 8"/>
          <p:cNvSpPr/>
          <p:nvPr/>
        </p:nvSpPr>
        <p:spPr>
          <a:xfrm>
            <a:off x="996695" y="2039112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79575" y="1920240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Connects clients and freelancers in one marketplace.</a:t>
            </a:r>
          </a:p>
        </p:txBody>
      </p:sp>
      <p:sp>
        <p:nvSpPr>
          <p:cNvPr id="11" name="Oval 10"/>
          <p:cNvSpPr/>
          <p:nvPr/>
        </p:nvSpPr>
        <p:spPr>
          <a:xfrm>
            <a:off x="996695" y="2423160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79575" y="2304288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Structures the path from project posting to delivery.</a:t>
            </a:r>
          </a:p>
        </p:txBody>
      </p:sp>
      <p:sp>
        <p:nvSpPr>
          <p:cNvPr id="13" name="Oval 12"/>
          <p:cNvSpPr/>
          <p:nvPr/>
        </p:nvSpPr>
        <p:spPr>
          <a:xfrm>
            <a:off x="996695" y="2807208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79575" y="2688336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Tracks proposals, contracts, milestones, and status.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5" y="3191256"/>
            <a:ext cx="82296" cy="82296"/>
          </a:xfrm>
          <a:prstGeom prst="ellipse">
            <a:avLst/>
          </a:prstGeom>
          <a:solidFill>
            <a:srgbClr val="3568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79575" y="3072384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Includes simulated escrow tracking and collaboration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5074920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E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417320"/>
            <a:ext cx="64008" cy="3611880"/>
          </a:xfrm>
          <a:prstGeom prst="rect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1536192"/>
            <a:ext cx="470915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2203A"/>
                </a:solidFill>
                <a:latin typeface="Aptos"/>
              </a:rPr>
              <a:t>Future scope</a:t>
            </a:r>
          </a:p>
        </p:txBody>
      </p:sp>
      <p:sp>
        <p:nvSpPr>
          <p:cNvPr id="20" name="Oval 19"/>
          <p:cNvSpPr/>
          <p:nvPr/>
        </p:nvSpPr>
        <p:spPr>
          <a:xfrm>
            <a:off x="6528816" y="2039112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11696" y="1920240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Integrate a real payment gateway.</a:t>
            </a:r>
          </a:p>
        </p:txBody>
      </p:sp>
      <p:sp>
        <p:nvSpPr>
          <p:cNvPr id="22" name="Oval 21"/>
          <p:cNvSpPr/>
          <p:nvPr/>
        </p:nvSpPr>
        <p:spPr>
          <a:xfrm>
            <a:off x="6528816" y="2423160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11696" y="2304288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Add real-time chat and notifications.</a:t>
            </a:r>
          </a:p>
        </p:txBody>
      </p:sp>
      <p:sp>
        <p:nvSpPr>
          <p:cNvPr id="24" name="Oval 23"/>
          <p:cNvSpPr/>
          <p:nvPr/>
        </p:nvSpPr>
        <p:spPr>
          <a:xfrm>
            <a:off x="6528816" y="2807208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11696" y="2688336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Introduce skill-based project recommendations.</a:t>
            </a:r>
          </a:p>
        </p:txBody>
      </p:sp>
      <p:sp>
        <p:nvSpPr>
          <p:cNvPr id="26" name="Oval 25"/>
          <p:cNvSpPr/>
          <p:nvPr/>
        </p:nvSpPr>
        <p:spPr>
          <a:xfrm>
            <a:off x="6528816" y="3191256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11696" y="3072384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Improve identity verification and dispute workflows.</a:t>
            </a:r>
          </a:p>
        </p:txBody>
      </p:sp>
      <p:sp>
        <p:nvSpPr>
          <p:cNvPr id="28" name="Oval 27"/>
          <p:cNvSpPr/>
          <p:nvPr/>
        </p:nvSpPr>
        <p:spPr>
          <a:xfrm>
            <a:off x="6528816" y="3575304"/>
            <a:ext cx="82296" cy="82296"/>
          </a:xfrm>
          <a:prstGeom prst="ellipse">
            <a:avLst/>
          </a:prstGeom>
          <a:solidFill>
            <a:srgbClr val="2A9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11696" y="3456432"/>
            <a:ext cx="4453128" cy="3566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273348"/>
                </a:solidFill>
                <a:latin typeface="Aptos"/>
              </a:rPr>
              <a:t>Develop mobile access and analytics.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5623560"/>
            <a:ext cx="3520440" cy="475488"/>
          </a:xfrm>
          <a:prstGeom prst="round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70832" y="5632704"/>
            <a:ext cx="3465576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944</Words>
  <Application>Microsoft Office PowerPoint</Application>
  <PresentationFormat>Widescreen</PresentationFormat>
  <Paragraphs>186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ALLURU AKSHAYA</dc:creator>
  <cp:keywords/>
  <dc:description>generated using python-pptx</dc:description>
  <cp:lastModifiedBy>ALLURU AKSHAYA</cp:lastModifiedBy>
  <cp:revision>2</cp:revision>
  <dcterms:created xsi:type="dcterms:W3CDTF">2013-01-27T09:14:16Z</dcterms:created>
  <dcterms:modified xsi:type="dcterms:W3CDTF">2026-10-02T07:50:24Z</dcterms:modified>
  <cp:category/>
</cp:coreProperties>
</file>