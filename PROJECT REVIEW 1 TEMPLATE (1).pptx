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5"/>
  </p:notesMasterIdLst>
  <p:handoutMasterIdLst>
    <p:handoutMasterId r:id="rId16"/>
  </p:handoutMasterIdLst>
  <p:sldIdLst>
    <p:sldId id="258" r:id="rId3"/>
    <p:sldId id="377" r:id="rId4"/>
    <p:sldId id="391" r:id="rId5"/>
    <p:sldId id="392" r:id="rId6"/>
    <p:sldId id="393" r:id="rId7"/>
    <p:sldId id="394" r:id="rId8"/>
    <p:sldId id="395" r:id="rId9"/>
    <p:sldId id="396" r:id="rId10"/>
    <p:sldId id="398" r:id="rId11"/>
    <p:sldId id="397" r:id="rId12"/>
    <p:sldId id="374" r:id="rId13"/>
    <p:sldId id="33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525" autoAdjust="0"/>
    <p:restoredTop sz="95033" autoAdjust="0"/>
  </p:normalViewPr>
  <p:slideViewPr>
    <p:cSldViewPr snapToGrid="0" snapToObjects="1">
      <p:cViewPr varScale="1">
        <p:scale>
          <a:sx n="74" d="100"/>
          <a:sy n="74" d="100"/>
        </p:scale>
        <p:origin x="1061" y="58"/>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8/10/relationships/authors" Target="author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8/25/2026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8/25/2026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a:t>
            </a:fld>
            <a:endParaRPr lang="en-US"/>
          </a:p>
        </p:txBody>
      </p:sp>
    </p:spTree>
    <p:extLst>
      <p:ext uri="{BB962C8B-B14F-4D97-AF65-F5344CB8AC3E}">
        <p14:creationId xmlns:p14="http://schemas.microsoft.com/office/powerpoint/2010/main" val="338822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2</a:t>
            </a:fld>
            <a:endParaRPr lang="en-US"/>
          </a:p>
        </p:txBody>
      </p:sp>
    </p:spTree>
    <p:extLst>
      <p:ext uri="{BB962C8B-B14F-4D97-AF65-F5344CB8AC3E}">
        <p14:creationId xmlns:p14="http://schemas.microsoft.com/office/powerpoint/2010/main" val="858710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9486-861A-2ECA-4D40-39E5F67E8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5A513-C79F-B540-0019-433BDBACF3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2E0A3D1-26CD-4F17-E4CA-311B4310EE1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6467B8-2D06-EBB4-C77E-EA980BEAC23E}"/>
              </a:ext>
            </a:extLst>
          </p:cNvPr>
          <p:cNvSpPr>
            <a:spLocks noGrp="1"/>
          </p:cNvSpPr>
          <p:nvPr>
            <p:ph type="sldNum" sz="quarter" idx="5"/>
          </p:nvPr>
        </p:nvSpPr>
        <p:spPr/>
        <p:txBody>
          <a:bodyPr/>
          <a:lstStyle/>
          <a:p>
            <a:fld id="{68329816-4D5E-3B44-810B-F5C416F14AE8}" type="slidenum">
              <a:rPr lang="en-US" smtClean="0"/>
              <a:t>3</a:t>
            </a:fld>
            <a:endParaRPr lang="en-US"/>
          </a:p>
        </p:txBody>
      </p:sp>
    </p:spTree>
    <p:extLst>
      <p:ext uri="{BB962C8B-B14F-4D97-AF65-F5344CB8AC3E}">
        <p14:creationId xmlns:p14="http://schemas.microsoft.com/office/powerpoint/2010/main" val="2526194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4FB51-0CCD-7E30-006C-24572EE0C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B3405-B72E-77E8-AC88-39C8BF27F8D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247CED-38BD-61BC-C289-9935025A3DF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3F3921-5CCB-99B2-BEAE-679945FC10B6}"/>
              </a:ext>
            </a:extLst>
          </p:cNvPr>
          <p:cNvSpPr>
            <a:spLocks noGrp="1"/>
          </p:cNvSpPr>
          <p:nvPr>
            <p:ph type="sldNum" sz="quarter" idx="5"/>
          </p:nvPr>
        </p:nvSpPr>
        <p:spPr/>
        <p:txBody>
          <a:bodyPr/>
          <a:lstStyle/>
          <a:p>
            <a:fld id="{68329816-4D5E-3B44-810B-F5C416F14AE8}" type="slidenum">
              <a:rPr lang="en-US" smtClean="0"/>
              <a:t>4</a:t>
            </a:fld>
            <a:endParaRPr lang="en-US"/>
          </a:p>
        </p:txBody>
      </p:sp>
    </p:spTree>
    <p:extLst>
      <p:ext uri="{BB962C8B-B14F-4D97-AF65-F5344CB8AC3E}">
        <p14:creationId xmlns:p14="http://schemas.microsoft.com/office/powerpoint/2010/main" val="186530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CFD8-ECD5-0783-2AB0-ACFC3273E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7F17B-D2F6-662D-52FF-83B2BA2D25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065DD85-E53A-AA51-8A24-6FD75FA0A7B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FBC8F9F-8E69-312B-01C2-05B902ACFE43}"/>
              </a:ext>
            </a:extLst>
          </p:cNvPr>
          <p:cNvSpPr>
            <a:spLocks noGrp="1"/>
          </p:cNvSpPr>
          <p:nvPr>
            <p:ph type="sldNum" sz="quarter" idx="5"/>
          </p:nvPr>
        </p:nvSpPr>
        <p:spPr/>
        <p:txBody>
          <a:bodyPr/>
          <a:lstStyle/>
          <a:p>
            <a:fld id="{68329816-4D5E-3B44-810B-F5C416F14AE8}" type="slidenum">
              <a:rPr lang="en-US" smtClean="0"/>
              <a:t>5</a:t>
            </a:fld>
            <a:endParaRPr lang="en-US"/>
          </a:p>
        </p:txBody>
      </p:sp>
    </p:spTree>
    <p:extLst>
      <p:ext uri="{BB962C8B-B14F-4D97-AF65-F5344CB8AC3E}">
        <p14:creationId xmlns:p14="http://schemas.microsoft.com/office/powerpoint/2010/main" val="1340277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A3961-5DE8-686E-3894-1EC4CE358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6716B-DE78-BE6A-065C-700B8CB0172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5D0C432-4A58-F09A-00A6-554859B76F7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764D428-282E-3F76-CEAD-7497380C202A}"/>
              </a:ext>
            </a:extLst>
          </p:cNvPr>
          <p:cNvSpPr>
            <a:spLocks noGrp="1"/>
          </p:cNvSpPr>
          <p:nvPr>
            <p:ph type="sldNum" sz="quarter" idx="5"/>
          </p:nvPr>
        </p:nvSpPr>
        <p:spPr/>
        <p:txBody>
          <a:bodyPr/>
          <a:lstStyle/>
          <a:p>
            <a:fld id="{68329816-4D5E-3B44-810B-F5C416F14AE8}" type="slidenum">
              <a:rPr lang="en-US" smtClean="0"/>
              <a:t>6</a:t>
            </a:fld>
            <a:endParaRPr lang="en-US"/>
          </a:p>
        </p:txBody>
      </p:sp>
    </p:spTree>
    <p:extLst>
      <p:ext uri="{BB962C8B-B14F-4D97-AF65-F5344CB8AC3E}">
        <p14:creationId xmlns:p14="http://schemas.microsoft.com/office/powerpoint/2010/main" val="1605459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77CB-4429-8372-ECF7-B3B85B0AA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79B-CAC4-B338-544C-CF4E8482F2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DAC0575-544B-58B3-87C9-8D914A1D0D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EB215F5-CFE1-7F26-9CD8-10AC466630CA}"/>
              </a:ext>
            </a:extLst>
          </p:cNvPr>
          <p:cNvSpPr>
            <a:spLocks noGrp="1"/>
          </p:cNvSpPr>
          <p:nvPr>
            <p:ph type="sldNum" sz="quarter" idx="5"/>
          </p:nvPr>
        </p:nvSpPr>
        <p:spPr/>
        <p:txBody>
          <a:bodyPr/>
          <a:lstStyle/>
          <a:p>
            <a:fld id="{68329816-4D5E-3B44-810B-F5C416F14AE8}" type="slidenum">
              <a:rPr lang="en-US" smtClean="0"/>
              <a:t>7</a:t>
            </a:fld>
            <a:endParaRPr lang="en-US"/>
          </a:p>
        </p:txBody>
      </p:sp>
    </p:spTree>
    <p:extLst>
      <p:ext uri="{BB962C8B-B14F-4D97-AF65-F5344CB8AC3E}">
        <p14:creationId xmlns:p14="http://schemas.microsoft.com/office/powerpoint/2010/main" val="269994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44B66-EC91-2BD6-7D3F-FB9E75F43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0EFCE-537F-8314-27E9-BA17DC4235B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A71D28A-95EE-C579-9938-AA572448742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7DA88E0-9C15-85FD-D2EF-741091DD3E66}"/>
              </a:ext>
            </a:extLst>
          </p:cNvPr>
          <p:cNvSpPr>
            <a:spLocks noGrp="1"/>
          </p:cNvSpPr>
          <p:nvPr>
            <p:ph type="sldNum" sz="quarter" idx="5"/>
          </p:nvPr>
        </p:nvSpPr>
        <p:spPr/>
        <p:txBody>
          <a:bodyPr/>
          <a:lstStyle/>
          <a:p>
            <a:fld id="{68329816-4D5E-3B44-810B-F5C416F14AE8}" type="slidenum">
              <a:rPr lang="en-US" smtClean="0"/>
              <a:t>8</a:t>
            </a:fld>
            <a:endParaRPr lang="en-US"/>
          </a:p>
        </p:txBody>
      </p:sp>
    </p:spTree>
    <p:extLst>
      <p:ext uri="{BB962C8B-B14F-4D97-AF65-F5344CB8AC3E}">
        <p14:creationId xmlns:p14="http://schemas.microsoft.com/office/powerpoint/2010/main" val="1645406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2C9F-32E2-1DF3-D933-ED26BBAAB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BD77D-896E-36B8-476D-3DB9858E94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481400-FC6F-EC9E-B10C-065E4BC062A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B4178FD-5294-B25F-1455-AC41BC9942CA}"/>
              </a:ext>
            </a:extLst>
          </p:cNvPr>
          <p:cNvSpPr>
            <a:spLocks noGrp="1"/>
          </p:cNvSpPr>
          <p:nvPr>
            <p:ph type="sldNum" sz="quarter" idx="5"/>
          </p:nvPr>
        </p:nvSpPr>
        <p:spPr/>
        <p:txBody>
          <a:bodyPr/>
          <a:lstStyle/>
          <a:p>
            <a:fld id="{68329816-4D5E-3B44-810B-F5C416F14AE8}" type="slidenum">
              <a:rPr lang="en-US" smtClean="0"/>
              <a:t>9</a:t>
            </a:fld>
            <a:endParaRPr lang="en-US"/>
          </a:p>
        </p:txBody>
      </p:sp>
    </p:spTree>
    <p:extLst>
      <p:ext uri="{BB962C8B-B14F-4D97-AF65-F5344CB8AC3E}">
        <p14:creationId xmlns:p14="http://schemas.microsoft.com/office/powerpoint/2010/main" val="1743332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A88E8-8740-3949-BE64-BB62EA08D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2BF00-6CFB-1C09-C3B7-8F0F835403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9D5D7B-5FA1-6B53-71F8-A93818030C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443D1A-5BCA-DD1F-4EB8-C6373CACAA6B}"/>
              </a:ext>
            </a:extLst>
          </p:cNvPr>
          <p:cNvSpPr>
            <a:spLocks noGrp="1"/>
          </p:cNvSpPr>
          <p:nvPr>
            <p:ph type="sldNum" sz="quarter" idx="5"/>
          </p:nvPr>
        </p:nvSpPr>
        <p:spPr/>
        <p:txBody>
          <a:bodyPr/>
          <a:lstStyle/>
          <a:p>
            <a:fld id="{68329816-4D5E-3B44-810B-F5C416F14AE8}" type="slidenum">
              <a:rPr lang="en-US" smtClean="0"/>
              <a:t>10</a:t>
            </a:fld>
            <a:endParaRPr lang="en-US"/>
          </a:p>
        </p:txBody>
      </p:sp>
    </p:spTree>
    <p:extLst>
      <p:ext uri="{BB962C8B-B14F-4D97-AF65-F5344CB8AC3E}">
        <p14:creationId xmlns:p14="http://schemas.microsoft.com/office/powerpoint/2010/main" val="3495928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E0DA504A-D052-4F2D-906E-4CCCD67E5352}" type="datetime1">
              <a:rPr lang="en-IN" smtClean="0"/>
              <a:t>25-08-2026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3C447009-55DF-4EA5-900B-29AFB7C8438A}" type="datetime1">
              <a:rPr lang="en-IN" smtClean="0"/>
              <a:t>25-08-2026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FFE8B550-430E-4E00-8584-398912EDCDA8}" type="datetime1">
              <a:rPr lang="en-IN" smtClean="0"/>
              <a:t>25-08-2026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BF3515C1-FC0C-48DC-AA13-5A7440F04A46}" type="datetime1">
              <a:rPr lang="en-IN" smtClean="0"/>
              <a:t>25-08-2026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06C4A9D0-F765-45B1-928F-556B91D2C522}" type="datetime1">
              <a:rPr lang="en-IN" smtClean="0"/>
              <a:t>25-08-2026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2420E6F3-7E24-4BDE-BB37-BD18A6966701}" type="datetime1">
              <a:rPr lang="en-IN" smtClean="0"/>
              <a:t>25-08-2026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63113449-4DF0-4F1F-A3E4-097B1714C7C4}" type="datetime1">
              <a:rPr lang="en-IN" smtClean="0"/>
              <a:t>25-08-2026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7CF4166F-CD67-4CEB-8DD7-1E38016562AC}" type="datetime1">
              <a:rPr lang="en-IN" smtClean="0"/>
              <a:t>25-08-2026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9178F83E-6F8A-4D66-8D97-D167DE305BE2}" type="datetime1">
              <a:rPr lang="en-IN" smtClean="0"/>
              <a:t>25-08-2026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68FA3A21-9775-4B2C-9B39-32116406212C}" type="datetime1">
              <a:rPr lang="en-IN" smtClean="0"/>
              <a:t>25-08-2026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D43ABDC8-9AAF-4B62-9540-4EA826AA678B}" type="datetime1">
              <a:rPr lang="en-IN" smtClean="0"/>
              <a:t>25-08-2026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5F3821C3-0F1A-498D-9F2E-D10FACA35B86}" type="datetime1">
              <a:rPr lang="en-IN" smtClean="0"/>
              <a:t>25-08-2026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B119A7DA-FCDD-43FA-8A0C-6A5B2B391695}" type="datetime1">
              <a:rPr lang="en-IN" smtClean="0"/>
              <a:t>25-08-2026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C138D4BE-274D-4073-90F9-6DE45B427D7A}" type="datetime1">
              <a:rPr lang="en-IN" smtClean="0"/>
              <a:t>25-08-2026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C4DD2526-BF89-47C7-96E6-5B804E43EF11}" type="datetime1">
              <a:rPr lang="en-IN" smtClean="0"/>
              <a:t>25-08-2026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84827929-B24E-4CA0-A508-395AF785C673}" type="datetime1">
              <a:rPr lang="en-IN" smtClean="0"/>
              <a:t>25-08-2026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t>25-08-2026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25-08-2026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961417" y="300399"/>
            <a:ext cx="10392383" cy="776839"/>
          </a:xfrm>
        </p:spPr>
        <p:txBody>
          <a:bodyPr>
            <a:noAutofit/>
          </a:bodyPr>
          <a:lstStyle/>
          <a:p>
            <a:pPr algn="ctr">
              <a:lnSpc>
                <a:spcPct val="100000"/>
              </a:lnSpc>
            </a:pPr>
            <a:br>
              <a:rPr lang="en-US" sz="2400" b="1" dirty="0">
                <a:cs typeface="Arial" panose="020B0604020202020204" pitchFamily="34" charset="0"/>
              </a:rPr>
            </a:br>
            <a:r>
              <a:rPr lang="en-US" sz="2400" b="1" dirty="0">
                <a:cs typeface="Arial" panose="020B0604020202020204" pitchFamily="34" charset="0"/>
              </a:rPr>
              <a:t>1</a:t>
            </a:r>
            <a:r>
              <a:rPr lang="en-US" sz="2400" b="1" baseline="30000" dirty="0">
                <a:cs typeface="Arial" panose="020B0604020202020204" pitchFamily="34" charset="0"/>
              </a:rPr>
              <a:t>st</a:t>
            </a:r>
            <a:r>
              <a:rPr lang="en-US" sz="2400" b="1" dirty="0">
                <a:cs typeface="Arial" panose="020B0604020202020204" pitchFamily="34" charset="0"/>
              </a:rPr>
              <a:t>  REVIEW</a:t>
            </a:r>
            <a:br>
              <a:rPr lang="en-US" sz="2400" dirty="0">
                <a:solidFill>
                  <a:srgbClr val="FF0000"/>
                </a:solidFill>
                <a:latin typeface="+mn-lt"/>
                <a:cs typeface="Arial" panose="020B0604020202020204" pitchFamily="34" charset="0"/>
              </a:rPr>
            </a:br>
            <a:r>
              <a:rPr lang="en-IN" sz="4000" b="1" dirty="0">
                <a:solidFill>
                  <a:schemeClr val="accent1"/>
                </a:solidFill>
              </a:rPr>
              <a:t>Freelance Marketplace with Escrow Payments</a:t>
            </a:r>
            <a:br>
              <a:rPr lang="en-US" sz="2400" b="1" dirty="0">
                <a:solidFill>
                  <a:srgbClr val="011893"/>
                </a:solidFill>
                <a:latin typeface="+mn-lt"/>
                <a:cs typeface="Arial" panose="020B0604020202020204" pitchFamily="34" charset="0"/>
              </a:rPr>
            </a:br>
            <a:endParaRPr lang="en-US" sz="2400" b="1" dirty="0">
              <a:solidFill>
                <a:srgbClr val="011893"/>
              </a:solidFill>
              <a:latin typeface="+mn-lt"/>
              <a:cs typeface="Arial" panose="020B0604020202020204" pitchFamily="34" charset="0"/>
            </a:endParaRP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endParaRPr lang="en-US" dirty="0"/>
          </a:p>
        </p:txBody>
      </p:sp>
      <p:sp>
        <p:nvSpPr>
          <p:cNvPr id="9" name="Content Placeholder 3">
            <a:extLst>
              <a:ext uri="{FF2B5EF4-FFF2-40B4-BE49-F238E27FC236}">
                <a16:creationId xmlns:a16="http://schemas.microsoft.com/office/drawing/2014/main" id="{24F28400-FDB5-158C-D317-153E1B1CD072}"/>
              </a:ext>
            </a:extLst>
          </p:cNvPr>
          <p:cNvSpPr txBox="1">
            <a:spLocks/>
          </p:cNvSpPr>
          <p:nvPr/>
        </p:nvSpPr>
        <p:spPr>
          <a:xfrm>
            <a:off x="1112160" y="4987541"/>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lgn="ctr">
              <a:buFont typeface="Arial" panose="020B0604020202020204" pitchFamily="34" charset="0"/>
              <a:buNone/>
            </a:pPr>
            <a:endParaRPr lang="en-US" sz="1800" b="1" dirty="0">
              <a:solidFill>
                <a:srgbClr val="0070C0"/>
              </a:solidFill>
            </a:endParaRPr>
          </a:p>
        </p:txBody>
      </p:sp>
      <p:sp>
        <p:nvSpPr>
          <p:cNvPr id="10" name="Content Placeholder 3">
            <a:extLst>
              <a:ext uri="{FF2B5EF4-FFF2-40B4-BE49-F238E27FC236}">
                <a16:creationId xmlns:a16="http://schemas.microsoft.com/office/drawing/2014/main" id="{968465D1-CCC3-285A-3E29-8B23DC764FF6}"/>
              </a:ext>
            </a:extLst>
          </p:cNvPr>
          <p:cNvSpPr txBox="1">
            <a:spLocks/>
          </p:cNvSpPr>
          <p:nvPr/>
        </p:nvSpPr>
        <p:spPr>
          <a:xfrm>
            <a:off x="952500" y="3143780"/>
            <a:ext cx="10515600" cy="18062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Under the Guidance </a:t>
            </a:r>
          </a:p>
          <a:p>
            <a:pPr marL="0" indent="0" algn="ctr">
              <a:buNone/>
            </a:pPr>
            <a:r>
              <a:rPr lang="en-US" sz="2400" dirty="0"/>
              <a:t>of </a:t>
            </a:r>
            <a:endParaRPr lang="en-US" sz="2400" dirty="0">
              <a:solidFill>
                <a:srgbClr val="00B050"/>
              </a:solidFill>
            </a:endParaRPr>
          </a:p>
          <a:p>
            <a:pPr marL="0" indent="0" algn="ctr">
              <a:buFont typeface="Arial" panose="020B0604020202020204" pitchFamily="34" charset="0"/>
              <a:buNone/>
            </a:pPr>
            <a:r>
              <a:rPr lang="en-US" sz="2400" dirty="0" err="1">
                <a:solidFill>
                  <a:srgbClr val="00B050"/>
                </a:solidFill>
              </a:rPr>
              <a:t>Dr.Y</a:t>
            </a:r>
            <a:r>
              <a:rPr lang="en-US" sz="2400" dirty="0">
                <a:solidFill>
                  <a:srgbClr val="00B050"/>
                </a:solidFill>
              </a:rPr>
              <a:t> </a:t>
            </a:r>
            <a:r>
              <a:rPr lang="en-US" sz="2400" dirty="0" err="1">
                <a:solidFill>
                  <a:srgbClr val="00B050"/>
                </a:solidFill>
              </a:rPr>
              <a:t>Subbarayudu</a:t>
            </a:r>
            <a:endParaRPr lang="en-US" sz="2400" dirty="0">
              <a:solidFill>
                <a:srgbClr val="00B050"/>
              </a:solidFill>
            </a:endParaRPr>
          </a:p>
          <a:p>
            <a:pPr marL="0" indent="0" algn="ctr">
              <a:buFont typeface="Arial" panose="020B0604020202020204" pitchFamily="34" charset="0"/>
              <a:buNone/>
            </a:pPr>
            <a:r>
              <a:rPr lang="en-US" sz="2400" dirty="0">
                <a:solidFill>
                  <a:srgbClr val="00B050"/>
                </a:solidFill>
              </a:rPr>
              <a:t>Assistant Professor</a:t>
            </a:r>
          </a:p>
          <a:p>
            <a:pPr marL="0" indent="0" algn="ctr">
              <a:buFont typeface="Arial" panose="020B0604020202020204" pitchFamily="34" charset="0"/>
              <a:buNone/>
            </a:pPr>
            <a:r>
              <a:rPr lang="en-US" sz="2400" dirty="0">
                <a:solidFill>
                  <a:srgbClr val="00B050"/>
                </a:solidFill>
              </a:rPr>
              <a:t>Department of Computer Science and Engineering </a:t>
            </a:r>
          </a:p>
          <a:p>
            <a:pPr marL="0" indent="0" algn="ctr">
              <a:buFont typeface="Arial" panose="020B0604020202020204" pitchFamily="34" charset="0"/>
              <a:buNone/>
            </a:pPr>
            <a:endParaRPr lang="en-US" sz="2400" dirty="0">
              <a:solidFill>
                <a:srgbClr val="00B050"/>
              </a:solidFill>
            </a:endParaRPr>
          </a:p>
        </p:txBody>
      </p:sp>
      <p:sp>
        <p:nvSpPr>
          <p:cNvPr id="4" name="Footer Placeholder 3">
            <a:extLst>
              <a:ext uri="{FF2B5EF4-FFF2-40B4-BE49-F238E27FC236}">
                <a16:creationId xmlns:a16="http://schemas.microsoft.com/office/drawing/2014/main" id="{CD9864F2-F4A5-DC53-C4B3-F9C0A49E4A32}"/>
              </a:ext>
            </a:extLst>
          </p:cNvPr>
          <p:cNvSpPr>
            <a:spLocks noGrp="1"/>
          </p:cNvSpPr>
          <p:nvPr>
            <p:ph type="ftr" sz="quarter" idx="11"/>
          </p:nvPr>
        </p:nvSpPr>
        <p:spPr/>
        <p:txBody>
          <a:bodyPr/>
          <a:lstStyle/>
          <a:p>
            <a:r>
              <a:rPr lang="en-US" dirty="0">
                <a:solidFill>
                  <a:schemeClr val="bg1"/>
                </a:solidFill>
              </a:rPr>
              <a:t>0th REVIEW           </a:t>
            </a:r>
          </a:p>
        </p:txBody>
      </p:sp>
      <p:sp>
        <p:nvSpPr>
          <p:cNvPr id="5" name="Slide Number Placeholder 4">
            <a:extLst>
              <a:ext uri="{FF2B5EF4-FFF2-40B4-BE49-F238E27FC236}">
                <a16:creationId xmlns:a16="http://schemas.microsoft.com/office/drawing/2014/main" id="{913C41FE-7D1F-E7DF-F0EB-DE18D39555E3}"/>
              </a:ext>
            </a:extLst>
          </p:cNvPr>
          <p:cNvSpPr>
            <a:spLocks noGrp="1"/>
          </p:cNvSpPr>
          <p:nvPr>
            <p:ph type="sldNum" sz="quarter" idx="12"/>
          </p:nvPr>
        </p:nvSpPr>
        <p:spPr/>
        <p:txBody>
          <a:bodyPr/>
          <a:lstStyle/>
          <a:p>
            <a:fld id="{B961B71F-4B40-8942-BB88-E0F5C0B46E10}" type="slidenum">
              <a:rPr lang="en-US" smtClean="0"/>
              <a:t>1</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040" y="4860024"/>
            <a:ext cx="2618924" cy="1243012"/>
          </a:xfrm>
          <a:prstGeom prst="rect">
            <a:avLst/>
          </a:prstGeom>
        </p:spPr>
      </p:pic>
      <p:graphicFrame>
        <p:nvGraphicFramePr>
          <p:cNvPr id="12" name="Table 11">
            <a:extLst>
              <a:ext uri="{FF2B5EF4-FFF2-40B4-BE49-F238E27FC236}">
                <a16:creationId xmlns:a16="http://schemas.microsoft.com/office/drawing/2014/main" id="{F5C1A452-4633-BB68-A150-FAF552C36CB9}"/>
              </a:ext>
            </a:extLst>
          </p:cNvPr>
          <p:cNvGraphicFramePr>
            <a:graphicFrameLocks noGrp="1"/>
          </p:cNvGraphicFramePr>
          <p:nvPr>
            <p:extLst>
              <p:ext uri="{D42A27DB-BD31-4B8C-83A1-F6EECF244321}">
                <p14:modId xmlns:p14="http://schemas.microsoft.com/office/powerpoint/2010/main" val="1986870845"/>
              </p:ext>
            </p:extLst>
          </p:nvPr>
        </p:nvGraphicFramePr>
        <p:xfrm>
          <a:off x="2032000" y="1680962"/>
          <a:ext cx="8128000" cy="111252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649491121"/>
                    </a:ext>
                  </a:extLst>
                </a:gridCol>
                <a:gridCol w="4064000">
                  <a:extLst>
                    <a:ext uri="{9D8B030D-6E8A-4147-A177-3AD203B41FA5}">
                      <a16:colId xmlns:a16="http://schemas.microsoft.com/office/drawing/2014/main" val="1478369533"/>
                    </a:ext>
                  </a:extLst>
                </a:gridCol>
              </a:tblGrid>
              <a:tr h="370840">
                <a:tc>
                  <a:txBody>
                    <a:bodyPr/>
                    <a:lstStyle/>
                    <a:p>
                      <a:r>
                        <a:rPr lang="en-US" dirty="0"/>
                        <a:t>Name1 : Alluru Akshaya</a:t>
                      </a:r>
                    </a:p>
                  </a:txBody>
                  <a:tcPr/>
                </a:tc>
                <a:tc>
                  <a:txBody>
                    <a:bodyPr/>
                    <a:lstStyle/>
                    <a:p>
                      <a:r>
                        <a:rPr lang="en-US" dirty="0"/>
                        <a:t>Roll no : 2520030189</a:t>
                      </a:r>
                    </a:p>
                  </a:txBody>
                  <a:tcPr/>
                </a:tc>
                <a:extLst>
                  <a:ext uri="{0D108BD9-81ED-4DB2-BD59-A6C34878D82A}">
                    <a16:rowId xmlns:a16="http://schemas.microsoft.com/office/drawing/2014/main" val="253518174"/>
                  </a:ext>
                </a:extLst>
              </a:tr>
              <a:tr h="370840">
                <a:tc>
                  <a:txBody>
                    <a:bodyPr/>
                    <a:lstStyle/>
                    <a:p>
                      <a:r>
                        <a:rPr lang="en-US" dirty="0"/>
                        <a:t>Name2 : Yasam Bhaarathi</a:t>
                      </a:r>
                    </a:p>
                  </a:txBody>
                  <a:tcPr/>
                </a:tc>
                <a:tc>
                  <a:txBody>
                    <a:bodyPr/>
                    <a:lstStyle/>
                    <a:p>
                      <a:r>
                        <a:rPr lang="en-US" dirty="0"/>
                        <a:t>Roll no :  2520030211</a:t>
                      </a:r>
                    </a:p>
                  </a:txBody>
                  <a:tcPr/>
                </a:tc>
                <a:extLst>
                  <a:ext uri="{0D108BD9-81ED-4DB2-BD59-A6C34878D82A}">
                    <a16:rowId xmlns:a16="http://schemas.microsoft.com/office/drawing/2014/main" val="2413438055"/>
                  </a:ext>
                </a:extLst>
              </a:tr>
              <a:tr h="370840">
                <a:tc>
                  <a:txBody>
                    <a:bodyPr/>
                    <a:lstStyle/>
                    <a:p>
                      <a:r>
                        <a:rPr lang="en-US" dirty="0"/>
                        <a:t>Name3 : </a:t>
                      </a:r>
                      <a:r>
                        <a:rPr lang="en-US" sz="1800" kern="1200" dirty="0">
                          <a:solidFill>
                            <a:schemeClr val="tx1"/>
                          </a:solidFill>
                          <a:effectLst/>
                          <a:latin typeface="+mn-lt"/>
                          <a:ea typeface="+mn-ea"/>
                          <a:cs typeface="+mn-cs"/>
                        </a:rPr>
                        <a:t>Madhan Gopal Narla</a:t>
                      </a:r>
                      <a:endParaRPr lang="en-US" dirty="0"/>
                    </a:p>
                  </a:txBody>
                  <a:tcPr/>
                </a:tc>
                <a:tc>
                  <a:txBody>
                    <a:bodyPr/>
                    <a:lstStyle/>
                    <a:p>
                      <a:r>
                        <a:rPr lang="en-US" dirty="0"/>
                        <a:t>Roll no : </a:t>
                      </a:r>
                      <a:r>
                        <a:rPr lang="en-US" sz="1800" kern="1200" dirty="0">
                          <a:solidFill>
                            <a:schemeClr val="tx1"/>
                          </a:solidFill>
                          <a:effectLst/>
                          <a:latin typeface="+mn-lt"/>
                          <a:ea typeface="+mn-ea"/>
                          <a:cs typeface="+mn-cs"/>
                        </a:rPr>
                        <a:t>2520030263</a:t>
                      </a:r>
                      <a:endParaRPr lang="en-US" dirty="0"/>
                    </a:p>
                  </a:txBody>
                  <a:tcPr/>
                </a:tc>
                <a:extLst>
                  <a:ext uri="{0D108BD9-81ED-4DB2-BD59-A6C34878D82A}">
                    <a16:rowId xmlns:a16="http://schemas.microsoft.com/office/drawing/2014/main" val="2584183484"/>
                  </a:ext>
                </a:extLst>
              </a:tr>
            </a:tbl>
          </a:graphicData>
        </a:graphic>
      </p:graphicFrame>
    </p:spTree>
    <p:extLst>
      <p:ext uri="{BB962C8B-B14F-4D97-AF65-F5344CB8AC3E}">
        <p14:creationId xmlns:p14="http://schemas.microsoft.com/office/powerpoint/2010/main" val="3362554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0159-92E9-5749-2215-8FA86E40BAF0}"/>
              </a:ext>
            </a:extLst>
          </p:cNvPr>
          <p:cNvSpPr>
            <a:spLocks noGrp="1"/>
          </p:cNvSpPr>
          <p:nvPr>
            <p:ph type="title"/>
          </p:nvPr>
        </p:nvSpPr>
        <p:spPr>
          <a:xfrm>
            <a:off x="1424484" y="374681"/>
            <a:ext cx="9343030" cy="726696"/>
          </a:xfrm>
        </p:spPr>
        <p:txBody>
          <a:bodyPr>
            <a:normAutofit/>
          </a:bodyPr>
          <a:lstStyle/>
          <a:p>
            <a:pPr algn="ctr"/>
            <a:r>
              <a:rPr lang="en-US" sz="3200" b="1" dirty="0">
                <a:solidFill>
                  <a:srgbClr val="0070C0"/>
                </a:solidFill>
              </a:rPr>
              <a:t>GROUP NUMBER:14 </a:t>
            </a:r>
            <a:endParaRPr lang="en-IN" sz="3200" b="1" dirty="0">
              <a:solidFill>
                <a:srgbClr val="0070C0"/>
              </a:solidFill>
            </a:endParaRPr>
          </a:p>
        </p:txBody>
      </p:sp>
      <p:sp>
        <p:nvSpPr>
          <p:cNvPr id="5" name="Footer Placeholder 4">
            <a:extLst>
              <a:ext uri="{FF2B5EF4-FFF2-40B4-BE49-F238E27FC236}">
                <a16:creationId xmlns:a16="http://schemas.microsoft.com/office/drawing/2014/main" id="{8C1BEE83-A330-74AD-884C-C19F63D46C5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E68CDC1-D8FB-8D4B-F57A-06B2C414C5B5}"/>
              </a:ext>
            </a:extLst>
          </p:cNvPr>
          <p:cNvSpPr>
            <a:spLocks noGrp="1"/>
          </p:cNvSpPr>
          <p:nvPr>
            <p:ph type="sldNum" sz="quarter" idx="12"/>
          </p:nvPr>
        </p:nvSpPr>
        <p:spPr/>
        <p:txBody>
          <a:bodyPr/>
          <a:lstStyle/>
          <a:p>
            <a:fld id="{B961B71F-4B40-8942-BB88-E0F5C0B46E10}" type="slidenum">
              <a:rPr lang="en-US" smtClean="0"/>
              <a:t>2</a:t>
            </a:fld>
            <a:endParaRPr lang="en-US"/>
          </a:p>
        </p:txBody>
      </p:sp>
      <p:graphicFrame>
        <p:nvGraphicFramePr>
          <p:cNvPr id="7" name="Table 10">
            <a:extLst>
              <a:ext uri="{FF2B5EF4-FFF2-40B4-BE49-F238E27FC236}">
                <a16:creationId xmlns:a16="http://schemas.microsoft.com/office/drawing/2014/main" id="{BD94FEB8-52D1-2D12-5891-6583D8FD44BE}"/>
              </a:ext>
            </a:extLst>
          </p:cNvPr>
          <p:cNvGraphicFramePr>
            <a:graphicFrameLocks noGrp="1"/>
          </p:cNvGraphicFramePr>
          <p:nvPr>
            <p:ph idx="1"/>
            <p:extLst>
              <p:ext uri="{D42A27DB-BD31-4B8C-83A1-F6EECF244321}">
                <p14:modId xmlns:p14="http://schemas.microsoft.com/office/powerpoint/2010/main" val="1495996529"/>
              </p:ext>
            </p:extLst>
          </p:nvPr>
        </p:nvGraphicFramePr>
        <p:xfrm>
          <a:off x="838199" y="1416193"/>
          <a:ext cx="10515600" cy="2366098"/>
        </p:xfrm>
        <a:graphic>
          <a:graphicData uri="http://schemas.openxmlformats.org/drawingml/2006/table">
            <a:tbl>
              <a:tblPr firstRow="1" bandRow="1">
                <a:tableStyleId>{5A111915-BE36-4E01-A7E5-04B1672EAD32}</a:tableStyleId>
              </a:tblPr>
              <a:tblGrid>
                <a:gridCol w="5257800">
                  <a:extLst>
                    <a:ext uri="{9D8B030D-6E8A-4147-A177-3AD203B41FA5}">
                      <a16:colId xmlns:a16="http://schemas.microsoft.com/office/drawing/2014/main" val="446563831"/>
                    </a:ext>
                  </a:extLst>
                </a:gridCol>
                <a:gridCol w="5257800">
                  <a:extLst>
                    <a:ext uri="{9D8B030D-6E8A-4147-A177-3AD203B41FA5}">
                      <a16:colId xmlns:a16="http://schemas.microsoft.com/office/drawing/2014/main" val="4175382372"/>
                    </a:ext>
                  </a:extLst>
                </a:gridCol>
              </a:tblGrid>
              <a:tr h="418444">
                <a:tc>
                  <a:txBody>
                    <a:bodyPr/>
                    <a:lstStyle/>
                    <a:p>
                      <a:pPr algn="ctr"/>
                      <a:r>
                        <a:rPr lang="en-US" dirty="0"/>
                        <a:t>Name of Candidate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7162894"/>
                  </a:ext>
                </a:extLst>
              </a:tr>
              <a:tr h="629841">
                <a:tc>
                  <a:txBody>
                    <a:bodyPr/>
                    <a:lstStyle/>
                    <a:p>
                      <a:r>
                        <a:rPr lang="en-US" dirty="0" err="1"/>
                        <a:t>Alluru</a:t>
                      </a:r>
                      <a:r>
                        <a:rPr lang="en-US" dirty="0"/>
                        <a:t> Akshaya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Team Leader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1584153"/>
                  </a:ext>
                </a:extLst>
              </a:tr>
              <a:tr h="629841">
                <a:tc>
                  <a:txBody>
                    <a:bodyPr/>
                    <a:lstStyle/>
                    <a:p>
                      <a:r>
                        <a:rPr lang="en-US" dirty="0" err="1"/>
                        <a:t>Yasam</a:t>
                      </a:r>
                      <a:r>
                        <a:rPr lang="en-US" dirty="0"/>
                        <a:t> Bhaarathi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Team Member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1687620"/>
                  </a:ext>
                </a:extLst>
              </a:tr>
              <a:tr h="6879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effectLst/>
                          <a:latin typeface="+mn-lt"/>
                          <a:ea typeface="+mn-ea"/>
                          <a:cs typeface="+mn-cs"/>
                        </a:rPr>
                        <a:t>Madhan Gopal Narla</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kern="1200" dirty="0">
                          <a:solidFill>
                            <a:schemeClr val="tx1"/>
                          </a:solidFill>
                          <a:effectLst/>
                          <a:latin typeface="+mn-lt"/>
                          <a:ea typeface="+mn-ea"/>
                          <a:cs typeface="+mn-cs"/>
                        </a:rPr>
                        <a:t>Team Member</a:t>
                      </a:r>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9241275"/>
                  </a:ext>
                </a:extLst>
              </a:tr>
            </a:tbl>
          </a:graphicData>
        </a:graphic>
      </p:graphicFrame>
    </p:spTree>
    <p:extLst>
      <p:ext uri="{BB962C8B-B14F-4D97-AF65-F5344CB8AC3E}">
        <p14:creationId xmlns:p14="http://schemas.microsoft.com/office/powerpoint/2010/main" val="1183936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21A4-4335-3E69-90C0-3A67A34B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32EA0-1B53-65AA-CA98-61C6349CC410}"/>
              </a:ext>
            </a:extLst>
          </p:cNvPr>
          <p:cNvSpPr>
            <a:spLocks noGrp="1"/>
          </p:cNvSpPr>
          <p:nvPr>
            <p:ph type="title"/>
          </p:nvPr>
        </p:nvSpPr>
        <p:spPr/>
        <p:txBody>
          <a:bodyPr>
            <a:normAutofit/>
          </a:bodyPr>
          <a:lstStyle/>
          <a:p>
            <a:pPr algn="ctr"/>
            <a:r>
              <a:rPr lang="en-IN" sz="3200" b="1" dirty="0">
                <a:solidFill>
                  <a:srgbClr val="0070C0"/>
                </a:solidFill>
              </a:rPr>
              <a:t>ABSTRACT</a:t>
            </a:r>
          </a:p>
        </p:txBody>
      </p:sp>
      <p:sp>
        <p:nvSpPr>
          <p:cNvPr id="5" name="Footer Placeholder 4">
            <a:extLst>
              <a:ext uri="{FF2B5EF4-FFF2-40B4-BE49-F238E27FC236}">
                <a16:creationId xmlns:a16="http://schemas.microsoft.com/office/drawing/2014/main" id="{5A208674-D9B3-10B6-5D9C-41DD5304014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FCCDEA6-9764-F9AA-B69B-6D32503B085E}"/>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4" name="Content Placeholder 3">
            <a:extLst>
              <a:ext uri="{FF2B5EF4-FFF2-40B4-BE49-F238E27FC236}">
                <a16:creationId xmlns:a16="http://schemas.microsoft.com/office/drawing/2014/main" id="{A4A63587-658B-D9DC-0DC8-293DA4D38FF8}"/>
              </a:ext>
            </a:extLst>
          </p:cNvPr>
          <p:cNvSpPr>
            <a:spLocks noGrp="1"/>
          </p:cNvSpPr>
          <p:nvPr>
            <p:ph idx="1"/>
          </p:nvPr>
        </p:nvSpPr>
        <p:spPr>
          <a:xfrm>
            <a:off x="661555" y="1586634"/>
            <a:ext cx="10515600" cy="4351338"/>
          </a:xfrm>
        </p:spPr>
        <p:txBody>
          <a:bodyPr>
            <a:normAutofit/>
          </a:bodyPr>
          <a:lstStyle/>
          <a:p>
            <a:pPr lvl="1">
              <a:lnSpc>
                <a:spcPct val="160000"/>
              </a:lnSpc>
            </a:pPr>
            <a:r>
              <a:rPr lang="en-IN" sz="1800" dirty="0">
                <a:latin typeface="Yu Gothic Medium" panose="020B0500000000000000" pitchFamily="34" charset="-128"/>
                <a:ea typeface="Yu Gothic Medium" panose="020B0500000000000000" pitchFamily="34" charset="-128"/>
              </a:rPr>
              <a:t>The Freelance Marketplace with Escrow Payments is a platform that connects clients and freelancers for secure project management and payments. Clients can post projects with requirements, budgets, and deadlines, while freelancers can browse projects and submit proposals. The system manages users, projects, proposals, contracts, payments, and reviews.</a:t>
            </a:r>
          </a:p>
          <a:p>
            <a:pPr lvl="1">
              <a:lnSpc>
                <a:spcPct val="160000"/>
              </a:lnSpc>
            </a:pPr>
            <a:r>
              <a:rPr lang="en-IN" sz="1800" dirty="0">
                <a:latin typeface="Yu Gothic Medium" panose="020B0500000000000000" pitchFamily="34" charset="-128"/>
                <a:ea typeface="Yu Gothic Medium" panose="020B0500000000000000" pitchFamily="34" charset="-128"/>
              </a:rPr>
              <a:t>The key feature is the Escrow payment mechanism, where the agreed payment is securely held and released to the freelancer only after the project is completed and approved by the client. The system also maintains records of completed, cancelled, and disputed payments, ensuring secure and transparent transactions.</a:t>
            </a:r>
          </a:p>
          <a:p>
            <a:endParaRPr lang="en-US" sz="2000" dirty="0">
              <a:latin typeface="Yu Gothic Medium" panose="020B0500000000000000" pitchFamily="34" charset="-128"/>
              <a:ea typeface="Yu Gothic Medium" panose="020B0500000000000000" pitchFamily="34" charset="-128"/>
            </a:endParaRPr>
          </a:p>
        </p:txBody>
      </p:sp>
    </p:spTree>
    <p:extLst>
      <p:ext uri="{BB962C8B-B14F-4D97-AF65-F5344CB8AC3E}">
        <p14:creationId xmlns:p14="http://schemas.microsoft.com/office/powerpoint/2010/main" val="420642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98CD-164D-D85C-3C57-86DE945BC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67F0A-F575-131F-4FAD-BB774017A307}"/>
              </a:ext>
            </a:extLst>
          </p:cNvPr>
          <p:cNvSpPr>
            <a:spLocks noGrp="1"/>
          </p:cNvSpPr>
          <p:nvPr>
            <p:ph type="title"/>
          </p:nvPr>
        </p:nvSpPr>
        <p:spPr>
          <a:xfrm>
            <a:off x="723900" y="136525"/>
            <a:ext cx="10515600" cy="1325563"/>
          </a:xfrm>
        </p:spPr>
        <p:txBody>
          <a:bodyPr>
            <a:normAutofit/>
          </a:bodyPr>
          <a:lstStyle/>
          <a:p>
            <a:pPr algn="ctr"/>
            <a:r>
              <a:rPr lang="en-IN" sz="3200" b="1" dirty="0">
                <a:solidFill>
                  <a:srgbClr val="0070C0"/>
                </a:solidFill>
              </a:rPr>
              <a:t>INTRDOUCTION</a:t>
            </a:r>
            <a:endParaRPr lang="en-IN" sz="3200" dirty="0">
              <a:solidFill>
                <a:srgbClr val="0070C0"/>
              </a:solidFill>
            </a:endParaRPr>
          </a:p>
        </p:txBody>
      </p:sp>
      <p:sp>
        <p:nvSpPr>
          <p:cNvPr id="5" name="Footer Placeholder 4">
            <a:extLst>
              <a:ext uri="{FF2B5EF4-FFF2-40B4-BE49-F238E27FC236}">
                <a16:creationId xmlns:a16="http://schemas.microsoft.com/office/drawing/2014/main" id="{975BEFBF-E399-A1D2-ED5E-57C497A7912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865F5E2-7F9E-F67E-1C1D-E2C463D8F91F}"/>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4" name="Content Placeholder 3">
            <a:extLst>
              <a:ext uri="{FF2B5EF4-FFF2-40B4-BE49-F238E27FC236}">
                <a16:creationId xmlns:a16="http://schemas.microsoft.com/office/drawing/2014/main" id="{B50241EE-20FA-FE88-F0CE-F84CFE3ED762}"/>
              </a:ext>
            </a:extLst>
          </p:cNvPr>
          <p:cNvSpPr>
            <a:spLocks noGrp="1"/>
          </p:cNvSpPr>
          <p:nvPr>
            <p:ph idx="1"/>
          </p:nvPr>
        </p:nvSpPr>
        <p:spPr>
          <a:xfrm>
            <a:off x="648160" y="1253331"/>
            <a:ext cx="11121738" cy="4351338"/>
          </a:xfrm>
        </p:spPr>
        <p:txBody>
          <a:bodyPr>
            <a:noAutofit/>
          </a:bodyPr>
          <a:lstStyle/>
          <a:p>
            <a:pPr lvl="0"/>
            <a:r>
              <a:rPr lang="en-IN" sz="1800" dirty="0">
                <a:latin typeface="Yu Gothic Medium" panose="020B0500000000000000" pitchFamily="34" charset="-128"/>
                <a:ea typeface="Yu Gothic Medium" panose="020B0500000000000000" pitchFamily="34" charset="-128"/>
              </a:rPr>
              <a:t>Clients can post jobs with requirements, budgets, and deadlines. </a:t>
            </a:r>
          </a:p>
          <a:p>
            <a:pPr lvl="0"/>
            <a:r>
              <a:rPr lang="en-IN" sz="1800" dirty="0">
                <a:latin typeface="Yu Gothic Medium" panose="020B0500000000000000" pitchFamily="34" charset="-128"/>
                <a:ea typeface="Yu Gothic Medium" panose="020B0500000000000000" pitchFamily="34" charset="-128"/>
              </a:rPr>
              <a:t>Freelancers can explore available projects and submit proposals based on their skills. </a:t>
            </a:r>
          </a:p>
          <a:p>
            <a:pPr lvl="0"/>
            <a:r>
              <a:rPr lang="en-IN" sz="1800" dirty="0">
                <a:latin typeface="Yu Gothic Medium" panose="020B0500000000000000" pitchFamily="34" charset="-128"/>
                <a:ea typeface="Yu Gothic Medium" panose="020B0500000000000000" pitchFamily="34" charset="-128"/>
              </a:rPr>
              <a:t>Manages the complete project lifecycle: </a:t>
            </a:r>
          </a:p>
          <a:p>
            <a:pPr marL="1257300" lvl="2" indent="-342900">
              <a:buFont typeface="+mj-lt"/>
              <a:buAutoNum type="arabicPeriod"/>
            </a:pPr>
            <a:r>
              <a:rPr lang="en-IN" sz="1600" dirty="0">
                <a:latin typeface="Yu Gothic Medium" panose="020B0500000000000000" pitchFamily="34" charset="-128"/>
                <a:ea typeface="Yu Gothic Medium" panose="020B0500000000000000" pitchFamily="34" charset="-128"/>
              </a:rPr>
              <a:t>Job posting </a:t>
            </a:r>
          </a:p>
          <a:p>
            <a:pPr marL="1257300" lvl="2" indent="-342900">
              <a:buFont typeface="+mj-lt"/>
              <a:buAutoNum type="arabicPeriod"/>
            </a:pPr>
            <a:r>
              <a:rPr lang="en-IN" sz="1600" dirty="0">
                <a:latin typeface="Yu Gothic Medium" panose="020B0500000000000000" pitchFamily="34" charset="-128"/>
                <a:ea typeface="Yu Gothic Medium" panose="020B0500000000000000" pitchFamily="34" charset="-128"/>
              </a:rPr>
              <a:t>Freelancer applications </a:t>
            </a:r>
          </a:p>
          <a:p>
            <a:pPr marL="1257300" lvl="2" indent="-342900">
              <a:buFont typeface="+mj-lt"/>
              <a:buAutoNum type="arabicPeriod"/>
            </a:pPr>
            <a:r>
              <a:rPr lang="en-IN" sz="1600" dirty="0">
                <a:latin typeface="Yu Gothic Medium" panose="020B0500000000000000" pitchFamily="34" charset="-128"/>
                <a:ea typeface="Yu Gothic Medium" panose="020B0500000000000000" pitchFamily="34" charset="-128"/>
              </a:rPr>
              <a:t>Freelancer selection </a:t>
            </a:r>
          </a:p>
          <a:p>
            <a:pPr marL="1257300" lvl="2" indent="-342900">
              <a:buFont typeface="+mj-lt"/>
              <a:buAutoNum type="arabicPeriod"/>
            </a:pPr>
            <a:r>
              <a:rPr lang="en-IN" sz="1600" dirty="0">
                <a:latin typeface="Yu Gothic Medium" panose="020B0500000000000000" pitchFamily="34" charset="-128"/>
                <a:ea typeface="Yu Gothic Medium" panose="020B0500000000000000" pitchFamily="34" charset="-128"/>
              </a:rPr>
              <a:t>Contract creation </a:t>
            </a:r>
          </a:p>
          <a:p>
            <a:pPr marL="1257300" lvl="2" indent="-342900">
              <a:buFont typeface="+mj-lt"/>
              <a:buAutoNum type="arabicPeriod"/>
            </a:pPr>
            <a:r>
              <a:rPr lang="en-IN" sz="1600" dirty="0">
                <a:latin typeface="Yu Gothic Medium" panose="020B0500000000000000" pitchFamily="34" charset="-128"/>
                <a:ea typeface="Yu Gothic Medium" panose="020B0500000000000000" pitchFamily="34" charset="-128"/>
              </a:rPr>
              <a:t>Milestone tracking </a:t>
            </a:r>
          </a:p>
          <a:p>
            <a:pPr marL="1257300" lvl="2" indent="-342900">
              <a:buFont typeface="+mj-lt"/>
              <a:buAutoNum type="arabicPeriod"/>
            </a:pPr>
            <a:r>
              <a:rPr lang="en-IN" sz="1600" dirty="0">
                <a:latin typeface="Yu Gothic Medium" panose="020B0500000000000000" pitchFamily="34" charset="-128"/>
                <a:ea typeface="Yu Gothic Medium" panose="020B0500000000000000" pitchFamily="34" charset="-128"/>
              </a:rPr>
              <a:t>Work submission </a:t>
            </a:r>
          </a:p>
          <a:p>
            <a:pPr marL="1257300" lvl="2" indent="-342900">
              <a:buFont typeface="+mj-lt"/>
              <a:buAutoNum type="arabicPeriod"/>
            </a:pPr>
            <a:r>
              <a:rPr lang="en-IN" sz="1600" dirty="0">
                <a:latin typeface="Yu Gothic Medium" panose="020B0500000000000000" pitchFamily="34" charset="-128"/>
                <a:ea typeface="Yu Gothic Medium" panose="020B0500000000000000" pitchFamily="34" charset="-128"/>
              </a:rPr>
              <a:t>Client approval </a:t>
            </a:r>
          </a:p>
          <a:p>
            <a:pPr lvl="0"/>
            <a:r>
              <a:rPr lang="en-IN" sz="1800" dirty="0">
                <a:latin typeface="Yu Gothic Medium" panose="020B0500000000000000" pitchFamily="34" charset="-128"/>
                <a:ea typeface="Yu Gothic Medium" panose="020B0500000000000000" pitchFamily="34" charset="-128"/>
              </a:rPr>
              <a:t>Uses an escrow payment mechanism to securely hold client payments. </a:t>
            </a:r>
          </a:p>
          <a:p>
            <a:pPr lvl="0"/>
            <a:r>
              <a:rPr lang="en-IN" sz="1800" dirty="0">
                <a:latin typeface="Yu Gothic Medium" panose="020B0500000000000000" pitchFamily="34" charset="-128"/>
                <a:ea typeface="Yu Gothic Medium" panose="020B0500000000000000" pitchFamily="34" charset="-128"/>
              </a:rPr>
              <a:t>Payment is released to the freelancer after the submitted work is approved. </a:t>
            </a:r>
          </a:p>
          <a:p>
            <a:pPr lvl="0"/>
            <a:r>
              <a:rPr lang="en-IN" sz="1800" dirty="0">
                <a:latin typeface="Yu Gothic Medium" panose="020B0500000000000000" pitchFamily="34" charset="-128"/>
                <a:ea typeface="Yu Gothic Medium" panose="020B0500000000000000" pitchFamily="34" charset="-128"/>
              </a:rPr>
              <a:t>Maintains records of projects, proposals, contracts, milestones, payments, disputes, and reviews. </a:t>
            </a:r>
          </a:p>
          <a:p>
            <a:pPr lvl="0"/>
            <a:r>
              <a:rPr lang="en-IN" sz="1800" dirty="0">
                <a:latin typeface="Yu Gothic Medium" panose="020B0500000000000000" pitchFamily="34" charset="-128"/>
                <a:ea typeface="Yu Gothic Medium" panose="020B0500000000000000" pitchFamily="34" charset="-128"/>
              </a:rPr>
              <a:t>Provides a complete record of each transaction.</a:t>
            </a:r>
          </a:p>
          <a:p>
            <a:pPr marL="0" lvl="0" indent="0">
              <a:buNone/>
            </a:pPr>
            <a:r>
              <a:rPr lang="en-IN" sz="1800" b="1" dirty="0">
                <a:latin typeface="Yu Gothic Medium" panose="020B0500000000000000" pitchFamily="34" charset="-128"/>
                <a:ea typeface="Yu Gothic Medium" panose="020B0500000000000000" pitchFamily="34" charset="-128"/>
              </a:rPr>
              <a:t>Job Posting → Proposal → Freelancer Selection → Contract → Milestones → Work Submission → Approval → Payment.</a:t>
            </a:r>
          </a:p>
          <a:p>
            <a:endParaRPr lang="en-US" sz="1200" dirty="0">
              <a:latin typeface="Yu Gothic Medium" panose="020B0500000000000000" pitchFamily="34" charset="-128"/>
              <a:ea typeface="Yu Gothic Medium" panose="020B0500000000000000" pitchFamily="34" charset="-128"/>
            </a:endParaRPr>
          </a:p>
        </p:txBody>
      </p:sp>
    </p:spTree>
    <p:extLst>
      <p:ext uri="{BB962C8B-B14F-4D97-AF65-F5344CB8AC3E}">
        <p14:creationId xmlns:p14="http://schemas.microsoft.com/office/powerpoint/2010/main" val="210509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8186F-83EF-F797-3CF5-E0EB652B6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ADAA0-09CB-B341-1C09-04229CE6998C}"/>
              </a:ext>
            </a:extLst>
          </p:cNvPr>
          <p:cNvSpPr>
            <a:spLocks noGrp="1"/>
          </p:cNvSpPr>
          <p:nvPr>
            <p:ph type="title"/>
          </p:nvPr>
        </p:nvSpPr>
        <p:spPr>
          <a:xfrm>
            <a:off x="838200" y="136525"/>
            <a:ext cx="10515600" cy="1325563"/>
          </a:xfrm>
        </p:spPr>
        <p:txBody>
          <a:bodyPr>
            <a:normAutofit/>
          </a:bodyPr>
          <a:lstStyle/>
          <a:p>
            <a:pPr algn="ctr"/>
            <a:r>
              <a:rPr lang="en-IN" sz="3200" b="1" dirty="0">
                <a:solidFill>
                  <a:srgbClr val="0070C0"/>
                </a:solidFill>
              </a:rPr>
              <a:t>EXISTING SYSTEM</a:t>
            </a:r>
            <a:endParaRPr lang="en-IN" sz="3200" dirty="0">
              <a:solidFill>
                <a:srgbClr val="0070C0"/>
              </a:solidFill>
            </a:endParaRPr>
          </a:p>
        </p:txBody>
      </p:sp>
      <p:sp>
        <p:nvSpPr>
          <p:cNvPr id="5" name="Footer Placeholder 4">
            <a:extLst>
              <a:ext uri="{FF2B5EF4-FFF2-40B4-BE49-F238E27FC236}">
                <a16:creationId xmlns:a16="http://schemas.microsoft.com/office/drawing/2014/main" id="{A28FD481-001E-20A8-DE67-D9A8495940B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D26E39B-0946-7E2E-7624-441AA6BEEDFB}"/>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4" name="Content Placeholder 3">
            <a:extLst>
              <a:ext uri="{FF2B5EF4-FFF2-40B4-BE49-F238E27FC236}">
                <a16:creationId xmlns:a16="http://schemas.microsoft.com/office/drawing/2014/main" id="{056021FD-8573-454E-AAE6-0DB770428D43}"/>
              </a:ext>
            </a:extLst>
          </p:cNvPr>
          <p:cNvSpPr>
            <a:spLocks noGrp="1"/>
          </p:cNvSpPr>
          <p:nvPr>
            <p:ph idx="1"/>
          </p:nvPr>
        </p:nvSpPr>
        <p:spPr>
          <a:xfrm>
            <a:off x="748145" y="1462088"/>
            <a:ext cx="10695709" cy="4232275"/>
          </a:xfrm>
        </p:spPr>
        <p:txBody>
          <a:bodyPr>
            <a:noAutofit/>
          </a:bodyPr>
          <a:lstStyle/>
          <a:p>
            <a:pPr lvl="0">
              <a:lnSpc>
                <a:spcPct val="120000"/>
              </a:lnSpc>
            </a:pPr>
            <a:r>
              <a:rPr lang="en-IN" sz="1600" dirty="0">
                <a:latin typeface="Yu Gothic Medium" panose="020B0500000000000000" pitchFamily="34" charset="-128"/>
                <a:ea typeface="Yu Gothic Medium" panose="020B0500000000000000" pitchFamily="34" charset="-128"/>
              </a:rPr>
              <a:t>Existing freelance platforms provide a common space for clients to post projects and freelancers to find and apply for jobs. </a:t>
            </a:r>
          </a:p>
          <a:p>
            <a:pPr lvl="0">
              <a:lnSpc>
                <a:spcPct val="120000"/>
              </a:lnSpc>
            </a:pPr>
            <a:r>
              <a:rPr lang="en-IN" sz="1600" dirty="0">
                <a:latin typeface="Yu Gothic Medium" panose="020B0500000000000000" pitchFamily="34" charset="-128"/>
                <a:ea typeface="Yu Gothic Medium" panose="020B0500000000000000" pitchFamily="34" charset="-128"/>
              </a:rPr>
              <a:t>Clients can review freelancer profiles, proposals, skills, and experience before selecting a suitable freelancer. </a:t>
            </a:r>
          </a:p>
          <a:p>
            <a:pPr lvl="0">
              <a:lnSpc>
                <a:spcPct val="120000"/>
              </a:lnSpc>
            </a:pPr>
            <a:r>
              <a:rPr lang="en-IN" sz="1600" dirty="0">
                <a:latin typeface="Yu Gothic Medium" panose="020B0500000000000000" pitchFamily="34" charset="-128"/>
                <a:ea typeface="Yu Gothic Medium" panose="020B0500000000000000" pitchFamily="34" charset="-128"/>
              </a:rPr>
              <a:t>Projects are usually managed through contracts, deadlines, milestones, and work submissions. </a:t>
            </a:r>
          </a:p>
          <a:p>
            <a:pPr lvl="0">
              <a:lnSpc>
                <a:spcPct val="120000"/>
              </a:lnSpc>
            </a:pPr>
            <a:r>
              <a:rPr lang="en-IN" sz="1600" dirty="0">
                <a:latin typeface="Yu Gothic Medium" panose="020B0500000000000000" pitchFamily="34" charset="-128"/>
                <a:ea typeface="Yu Gothic Medium" panose="020B0500000000000000" pitchFamily="34" charset="-128"/>
              </a:rPr>
              <a:t>Payment systems are available, but the payment process and release conditions may vary between platforms. </a:t>
            </a:r>
          </a:p>
          <a:p>
            <a:pPr lvl="0">
              <a:lnSpc>
                <a:spcPct val="120000"/>
              </a:lnSpc>
            </a:pPr>
            <a:r>
              <a:rPr lang="en-IN" sz="1600" dirty="0">
                <a:latin typeface="Yu Gothic Medium" panose="020B0500000000000000" pitchFamily="34" charset="-128"/>
                <a:ea typeface="Yu Gothic Medium" panose="020B0500000000000000" pitchFamily="34" charset="-128"/>
              </a:rPr>
              <a:t>Disagreements may arise due to unclear project requirements, incomplete work, delayed submissions, or payment issues. </a:t>
            </a:r>
          </a:p>
          <a:p>
            <a:pPr lvl="0">
              <a:lnSpc>
                <a:spcPct val="120000"/>
              </a:lnSpc>
            </a:pPr>
            <a:r>
              <a:rPr lang="en-IN" sz="1600" dirty="0">
                <a:latin typeface="Yu Gothic Medium" panose="020B0500000000000000" pitchFamily="34" charset="-128"/>
                <a:ea typeface="Yu Gothic Medium" panose="020B0500000000000000" pitchFamily="34" charset="-128"/>
              </a:rPr>
              <a:t>There is a need for a more structured, transparent, and secure payment process that protects both clients and freelancers. </a:t>
            </a:r>
          </a:p>
          <a:p>
            <a:pPr lvl="0">
              <a:lnSpc>
                <a:spcPct val="120000"/>
              </a:lnSpc>
            </a:pPr>
            <a:r>
              <a:rPr lang="en-IN" sz="1600" dirty="0">
                <a:latin typeface="Yu Gothic Medium" panose="020B0500000000000000" pitchFamily="34" charset="-128"/>
                <a:ea typeface="Yu Gothic Medium" panose="020B0500000000000000" pitchFamily="34" charset="-128"/>
              </a:rPr>
              <a:t>The existing approach can be improved by integrating project management and escrow-based payment handling into a single system. </a:t>
            </a:r>
          </a:p>
          <a:p>
            <a:pPr>
              <a:lnSpc>
                <a:spcPct val="120000"/>
              </a:lnSpc>
            </a:pPr>
            <a:endParaRPr lang="en-US" sz="1600" dirty="0">
              <a:latin typeface="Yu Gothic Medium" panose="020B0500000000000000" pitchFamily="34" charset="-128"/>
              <a:ea typeface="Yu Gothic Medium" panose="020B0500000000000000" pitchFamily="34" charset="-128"/>
            </a:endParaRPr>
          </a:p>
        </p:txBody>
      </p:sp>
    </p:spTree>
    <p:extLst>
      <p:ext uri="{BB962C8B-B14F-4D97-AF65-F5344CB8AC3E}">
        <p14:creationId xmlns:p14="http://schemas.microsoft.com/office/powerpoint/2010/main" val="3485086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D086-C570-6965-FE9B-0BC9CC8DC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39E69-F203-A171-A5A3-B886BB15A4B9}"/>
              </a:ext>
            </a:extLst>
          </p:cNvPr>
          <p:cNvSpPr>
            <a:spLocks noGrp="1"/>
          </p:cNvSpPr>
          <p:nvPr>
            <p:ph type="title"/>
          </p:nvPr>
        </p:nvSpPr>
        <p:spPr/>
        <p:txBody>
          <a:bodyPr>
            <a:normAutofit/>
          </a:bodyPr>
          <a:lstStyle/>
          <a:p>
            <a:pPr algn="ctr"/>
            <a:r>
              <a:rPr lang="en-IN" sz="3200" b="1" dirty="0">
                <a:solidFill>
                  <a:srgbClr val="0070C0"/>
                </a:solidFill>
              </a:rPr>
              <a:t>PROBLEM</a:t>
            </a:r>
            <a:endParaRPr lang="en-IN" sz="3200" dirty="0">
              <a:solidFill>
                <a:srgbClr val="0070C0"/>
              </a:solidFill>
            </a:endParaRPr>
          </a:p>
        </p:txBody>
      </p:sp>
      <p:sp>
        <p:nvSpPr>
          <p:cNvPr id="5" name="Footer Placeholder 4">
            <a:extLst>
              <a:ext uri="{FF2B5EF4-FFF2-40B4-BE49-F238E27FC236}">
                <a16:creationId xmlns:a16="http://schemas.microsoft.com/office/drawing/2014/main" id="{CBD7E664-BF08-3F4A-316F-C5F90E27A19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41522F1-A86A-A779-FD8E-AD3FAD0133B7}"/>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4" name="Content Placeholder 3">
            <a:extLst>
              <a:ext uri="{FF2B5EF4-FFF2-40B4-BE49-F238E27FC236}">
                <a16:creationId xmlns:a16="http://schemas.microsoft.com/office/drawing/2014/main" id="{1A1C0964-43C5-DE58-F74B-F0B3B1F5C984}"/>
              </a:ext>
            </a:extLst>
          </p:cNvPr>
          <p:cNvSpPr>
            <a:spLocks noGrp="1"/>
          </p:cNvSpPr>
          <p:nvPr>
            <p:ph idx="1"/>
          </p:nvPr>
        </p:nvSpPr>
        <p:spPr>
          <a:xfrm>
            <a:off x="782782" y="1690688"/>
            <a:ext cx="10965873" cy="4351338"/>
          </a:xfrm>
        </p:spPr>
        <p:txBody>
          <a:bodyPr>
            <a:normAutofit lnSpcReduction="10000"/>
          </a:bodyPr>
          <a:lstStyle/>
          <a:p>
            <a:pPr lvl="0"/>
            <a:r>
              <a:rPr lang="en-IN" sz="2000" b="1" dirty="0"/>
              <a:t>Payment Risk</a:t>
            </a:r>
            <a:r>
              <a:rPr lang="en-IN" sz="2000" dirty="0"/>
              <a:t> – Freelancers may face delayed or uncertain payments after completing work. </a:t>
            </a:r>
          </a:p>
          <a:p>
            <a:pPr lvl="0"/>
            <a:r>
              <a:rPr lang="en-IN" sz="2000" b="1" dirty="0"/>
              <a:t>Unclear Project Requirements</a:t>
            </a:r>
            <a:r>
              <a:rPr lang="en-IN" sz="2000" dirty="0"/>
              <a:t> – Misunderstandings can occur between clients and freelancers. </a:t>
            </a:r>
          </a:p>
          <a:p>
            <a:pPr lvl="0"/>
            <a:r>
              <a:rPr lang="en-IN" sz="2000" b="1" dirty="0"/>
              <a:t>Difficult Project Tracking</a:t>
            </a:r>
            <a:r>
              <a:rPr lang="en-IN" sz="2000" dirty="0"/>
              <a:t> – Managing deadlines, milestones, and work progress can become complicated. </a:t>
            </a:r>
          </a:p>
          <a:p>
            <a:pPr lvl="0"/>
            <a:r>
              <a:rPr lang="en-IN" sz="2000" b="1" dirty="0"/>
              <a:t>Proposal Selection</a:t>
            </a:r>
            <a:r>
              <a:rPr lang="en-IN" sz="2000" dirty="0"/>
              <a:t> – Clients may find it difficult to compare multiple freelancer proposals effectively. </a:t>
            </a:r>
          </a:p>
          <a:p>
            <a:pPr lvl="0"/>
            <a:r>
              <a:rPr lang="en-IN" sz="2000" b="1" dirty="0"/>
              <a:t>Payment Disputes</a:t>
            </a:r>
            <a:r>
              <a:rPr lang="en-IN" sz="2000" dirty="0"/>
              <a:t> – Conflicts may arise when the client is not satisfied with the submitted work. </a:t>
            </a:r>
          </a:p>
          <a:p>
            <a:pPr lvl="0"/>
            <a:r>
              <a:rPr lang="en-IN" sz="2000" b="1" dirty="0"/>
              <a:t>Lack of Transparency</a:t>
            </a:r>
            <a:r>
              <a:rPr lang="en-IN" sz="2000" dirty="0"/>
              <a:t> – Project status, approvals, and payment details may not be clearly tracked. </a:t>
            </a:r>
          </a:p>
          <a:p>
            <a:pPr lvl="0"/>
            <a:r>
              <a:rPr lang="en-IN" sz="2000" b="1" dirty="0"/>
              <a:t>Scattered Information</a:t>
            </a:r>
            <a:r>
              <a:rPr lang="en-IN" sz="2000" dirty="0"/>
              <a:t> – Project, contract, work, and payment details may be difficult to manage in one place.</a:t>
            </a:r>
          </a:p>
          <a:p>
            <a:pPr marL="0" lvl="0" indent="0">
              <a:buNone/>
            </a:pPr>
            <a:endParaRPr lang="en-IN" sz="2000" dirty="0"/>
          </a:p>
          <a:p>
            <a:pPr marL="0" indent="0">
              <a:lnSpc>
                <a:spcPct val="100000"/>
              </a:lnSpc>
              <a:buNone/>
            </a:pPr>
            <a:r>
              <a:rPr lang="en-IN" sz="1600" dirty="0"/>
              <a:t>•</a:t>
            </a:r>
            <a:r>
              <a:rPr lang="en-IN" sz="1800" dirty="0"/>
              <a:t>From the client's side, there can be problems like incomplete work, missed deadlines, or difficulty tracking the project. From the freelancer's side, there can be issues like delayed payments or uncertainty about whether they will be paid after completing the work.</a:t>
            </a:r>
          </a:p>
          <a:p>
            <a:pPr marL="0" indent="0">
              <a:lnSpc>
                <a:spcPct val="100000"/>
              </a:lnSpc>
              <a:buNone/>
            </a:pPr>
            <a:endParaRPr lang="en-US" sz="1600" dirty="0">
              <a:latin typeface="Yu Gothic Medium" panose="020B0500000000000000" pitchFamily="34" charset="-128"/>
              <a:ea typeface="Yu Gothic Medium" panose="020B0500000000000000" pitchFamily="34" charset="-128"/>
            </a:endParaRPr>
          </a:p>
        </p:txBody>
      </p:sp>
    </p:spTree>
    <p:extLst>
      <p:ext uri="{BB962C8B-B14F-4D97-AF65-F5344CB8AC3E}">
        <p14:creationId xmlns:p14="http://schemas.microsoft.com/office/powerpoint/2010/main" val="2029224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1D2BB-24DC-B783-7CA6-93F4D0FDD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F7F70-D950-780B-9427-7B1B3DAFF9D0}"/>
              </a:ext>
            </a:extLst>
          </p:cNvPr>
          <p:cNvSpPr>
            <a:spLocks noGrp="1"/>
          </p:cNvSpPr>
          <p:nvPr>
            <p:ph type="title"/>
          </p:nvPr>
        </p:nvSpPr>
        <p:spPr>
          <a:xfrm>
            <a:off x="838200" y="384810"/>
            <a:ext cx="10515600" cy="1325563"/>
          </a:xfrm>
        </p:spPr>
        <p:txBody>
          <a:bodyPr>
            <a:normAutofit/>
          </a:bodyPr>
          <a:lstStyle/>
          <a:p>
            <a:pPr algn="ctr"/>
            <a:r>
              <a:rPr lang="en-IN" sz="3200" b="1" dirty="0">
                <a:solidFill>
                  <a:srgbClr val="0070C0"/>
                </a:solidFill>
              </a:rPr>
              <a:t>SOLUTION(Contribution)</a:t>
            </a:r>
            <a:endParaRPr lang="en-IN" sz="3200" dirty="0">
              <a:solidFill>
                <a:srgbClr val="0070C0"/>
              </a:solidFill>
            </a:endParaRPr>
          </a:p>
        </p:txBody>
      </p:sp>
      <p:sp>
        <p:nvSpPr>
          <p:cNvPr id="5" name="Footer Placeholder 4">
            <a:extLst>
              <a:ext uri="{FF2B5EF4-FFF2-40B4-BE49-F238E27FC236}">
                <a16:creationId xmlns:a16="http://schemas.microsoft.com/office/drawing/2014/main" id="{0D3B14AD-C0C8-6663-E0C7-1AAF7B63E4F8}"/>
              </a:ext>
            </a:extLst>
          </p:cNvPr>
          <p:cNvSpPr>
            <a:spLocks noGrp="1"/>
          </p:cNvSpPr>
          <p:nvPr>
            <p:ph type="ftr" sz="quarter" idx="11"/>
          </p:nvPr>
        </p:nvSpPr>
        <p:spPr>
          <a:xfrm>
            <a:off x="4672445" y="6066155"/>
            <a:ext cx="4114800" cy="365125"/>
          </a:xfrm>
        </p:spPr>
        <p:txBody>
          <a:bodyPr/>
          <a:lstStyle/>
          <a:p>
            <a:r>
              <a:rPr lang="en-US" dirty="0"/>
              <a:t>         </a:t>
            </a:r>
          </a:p>
        </p:txBody>
      </p:sp>
      <p:sp>
        <p:nvSpPr>
          <p:cNvPr id="6" name="Slide Number Placeholder 5">
            <a:extLst>
              <a:ext uri="{FF2B5EF4-FFF2-40B4-BE49-F238E27FC236}">
                <a16:creationId xmlns:a16="http://schemas.microsoft.com/office/drawing/2014/main" id="{19DA39EF-2DDE-9002-F716-F77A6113DF3D}"/>
              </a:ext>
            </a:extLst>
          </p:cNvPr>
          <p:cNvSpPr>
            <a:spLocks noGrp="1"/>
          </p:cNvSpPr>
          <p:nvPr>
            <p:ph type="sldNum" sz="quarter" idx="12"/>
          </p:nvPr>
        </p:nvSpPr>
        <p:spPr>
          <a:xfrm>
            <a:off x="9244445" y="6066155"/>
            <a:ext cx="2743200" cy="365125"/>
          </a:xfrm>
        </p:spPr>
        <p:txBody>
          <a:bodyPr/>
          <a:lstStyle/>
          <a:p>
            <a:fld id="{B961B71F-4B40-8942-BB88-E0F5C0B46E10}" type="slidenum">
              <a:rPr lang="en-US" smtClean="0"/>
              <a:t>7</a:t>
            </a:fld>
            <a:endParaRPr lang="en-US"/>
          </a:p>
        </p:txBody>
      </p:sp>
      <p:sp>
        <p:nvSpPr>
          <p:cNvPr id="4" name="Content Placeholder 3">
            <a:extLst>
              <a:ext uri="{FF2B5EF4-FFF2-40B4-BE49-F238E27FC236}">
                <a16:creationId xmlns:a16="http://schemas.microsoft.com/office/drawing/2014/main" id="{A105A205-0B24-5585-AD3A-14F0657A956C}"/>
              </a:ext>
            </a:extLst>
          </p:cNvPr>
          <p:cNvSpPr>
            <a:spLocks noGrp="1"/>
          </p:cNvSpPr>
          <p:nvPr>
            <p:ph idx="1"/>
          </p:nvPr>
        </p:nvSpPr>
        <p:spPr>
          <a:xfrm>
            <a:off x="1139537" y="1847850"/>
            <a:ext cx="10515600" cy="4351338"/>
          </a:xfrm>
        </p:spPr>
        <p:txBody>
          <a:bodyPr>
            <a:normAutofit/>
          </a:bodyPr>
          <a:lstStyle/>
          <a:p>
            <a:pPr lvl="0">
              <a:lnSpc>
                <a:spcPct val="100000"/>
              </a:lnSpc>
            </a:pPr>
            <a:r>
              <a:rPr lang="en-IN" sz="2000" dirty="0">
                <a:latin typeface="Yu Gothic Medium" panose="020B0500000000000000" pitchFamily="34" charset="-128"/>
                <a:ea typeface="Yu Gothic Medium" panose="020B0500000000000000" pitchFamily="34" charset="-128"/>
              </a:rPr>
              <a:t>Develop a centralized freelance marketplace for clients and freelancers. </a:t>
            </a:r>
          </a:p>
          <a:p>
            <a:pPr lvl="0">
              <a:lnSpc>
                <a:spcPct val="100000"/>
              </a:lnSpc>
            </a:pPr>
            <a:r>
              <a:rPr lang="en-IN" sz="2000" dirty="0">
                <a:latin typeface="Yu Gothic Medium" panose="020B0500000000000000" pitchFamily="34" charset="-128"/>
                <a:ea typeface="Yu Gothic Medium" panose="020B0500000000000000" pitchFamily="34" charset="-128"/>
              </a:rPr>
              <a:t>Provide a complete workflow from job posting to project completion. </a:t>
            </a:r>
          </a:p>
          <a:p>
            <a:pPr lvl="0">
              <a:lnSpc>
                <a:spcPct val="100000"/>
              </a:lnSpc>
            </a:pPr>
            <a:r>
              <a:rPr lang="en-IN" sz="2000" dirty="0">
                <a:latin typeface="Yu Gothic Medium" panose="020B0500000000000000" pitchFamily="34" charset="-128"/>
                <a:ea typeface="Yu Gothic Medium" panose="020B0500000000000000" pitchFamily="34" charset="-128"/>
              </a:rPr>
              <a:t>Manage proposals, contracts, and project milestones in one platform. </a:t>
            </a:r>
          </a:p>
          <a:p>
            <a:pPr lvl="0">
              <a:lnSpc>
                <a:spcPct val="100000"/>
              </a:lnSpc>
            </a:pPr>
            <a:r>
              <a:rPr lang="en-IN" sz="2000" dirty="0">
                <a:latin typeface="Yu Gothic Medium" panose="020B0500000000000000" pitchFamily="34" charset="-128"/>
                <a:ea typeface="Yu Gothic Medium" panose="020B0500000000000000" pitchFamily="34" charset="-128"/>
              </a:rPr>
              <a:t>Implement a secure escrow payment mechanism for milestone-based payments. </a:t>
            </a:r>
          </a:p>
          <a:p>
            <a:pPr lvl="0">
              <a:lnSpc>
                <a:spcPct val="100000"/>
              </a:lnSpc>
            </a:pPr>
            <a:r>
              <a:rPr lang="en-IN" sz="2000" dirty="0">
                <a:latin typeface="Yu Gothic Medium" panose="020B0500000000000000" pitchFamily="34" charset="-128"/>
                <a:ea typeface="Yu Gothic Medium" panose="020B0500000000000000" pitchFamily="34" charset="-128"/>
              </a:rPr>
              <a:t>Release payments to freelancers after client approval of completed work. </a:t>
            </a:r>
          </a:p>
          <a:p>
            <a:pPr lvl="0">
              <a:lnSpc>
                <a:spcPct val="100000"/>
              </a:lnSpc>
            </a:pPr>
            <a:r>
              <a:rPr lang="en-IN" sz="2000" dirty="0">
                <a:latin typeface="Yu Gothic Medium" panose="020B0500000000000000" pitchFamily="34" charset="-128"/>
                <a:ea typeface="Yu Gothic Medium" panose="020B0500000000000000" pitchFamily="34" charset="-128"/>
              </a:rPr>
              <a:t>Support dispute management, communication, and file exchange. </a:t>
            </a:r>
          </a:p>
          <a:p>
            <a:pPr lvl="0">
              <a:lnSpc>
                <a:spcPct val="100000"/>
              </a:lnSpc>
            </a:pPr>
            <a:r>
              <a:rPr lang="en-IN" sz="2000" dirty="0">
                <a:latin typeface="Yu Gothic Medium" panose="020B0500000000000000" pitchFamily="34" charset="-128"/>
                <a:ea typeface="Yu Gothic Medium" panose="020B0500000000000000" pitchFamily="34" charset="-128"/>
              </a:rPr>
              <a:t>Maintain structured records of projects, payments, and transactions using MySQL.</a:t>
            </a:r>
          </a:p>
          <a:p>
            <a:pPr>
              <a:lnSpc>
                <a:spcPct val="100000"/>
              </a:lnSpc>
            </a:pPr>
            <a:endParaRPr lang="en-US" sz="2000" dirty="0">
              <a:latin typeface="Yu Gothic Medium" panose="020B0500000000000000" pitchFamily="34" charset="-128"/>
              <a:ea typeface="Yu Gothic Medium" panose="020B0500000000000000" pitchFamily="34" charset="-128"/>
            </a:endParaRPr>
          </a:p>
        </p:txBody>
      </p:sp>
    </p:spTree>
    <p:extLst>
      <p:ext uri="{BB962C8B-B14F-4D97-AF65-F5344CB8AC3E}">
        <p14:creationId xmlns:p14="http://schemas.microsoft.com/office/powerpoint/2010/main" val="3949831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53A8-3533-6CAA-B371-DE8FA0254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B2015-9851-BB00-C9BE-D0201418CFFF}"/>
              </a:ext>
            </a:extLst>
          </p:cNvPr>
          <p:cNvSpPr>
            <a:spLocks noGrp="1"/>
          </p:cNvSpPr>
          <p:nvPr>
            <p:ph type="title"/>
          </p:nvPr>
        </p:nvSpPr>
        <p:spPr/>
        <p:txBody>
          <a:bodyPr>
            <a:normAutofit/>
          </a:bodyPr>
          <a:lstStyle/>
          <a:p>
            <a:pPr algn="ctr"/>
            <a:r>
              <a:rPr lang="en-IN" sz="3600" b="1" dirty="0">
                <a:solidFill>
                  <a:srgbClr val="0070C0"/>
                </a:solidFill>
              </a:rPr>
              <a:t>Objectives </a:t>
            </a:r>
            <a:endParaRPr lang="en-IN" sz="3600" dirty="0">
              <a:solidFill>
                <a:srgbClr val="0070C0"/>
              </a:solidFill>
            </a:endParaRPr>
          </a:p>
        </p:txBody>
      </p:sp>
      <p:sp>
        <p:nvSpPr>
          <p:cNvPr id="5" name="Footer Placeholder 4">
            <a:extLst>
              <a:ext uri="{FF2B5EF4-FFF2-40B4-BE49-F238E27FC236}">
                <a16:creationId xmlns:a16="http://schemas.microsoft.com/office/drawing/2014/main" id="{616106D5-4F08-32F7-69CA-DA0983824FD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5C2EE72-0990-73F7-3A95-5511C5AA0B2D}"/>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4" name="Content Placeholder 3">
            <a:extLst>
              <a:ext uri="{FF2B5EF4-FFF2-40B4-BE49-F238E27FC236}">
                <a16:creationId xmlns:a16="http://schemas.microsoft.com/office/drawing/2014/main" id="{D440F2FD-B824-35C5-9EAA-5AF510938C36}"/>
              </a:ext>
            </a:extLst>
          </p:cNvPr>
          <p:cNvSpPr>
            <a:spLocks noGrp="1"/>
          </p:cNvSpPr>
          <p:nvPr>
            <p:ph idx="1"/>
          </p:nvPr>
        </p:nvSpPr>
        <p:spPr>
          <a:xfrm>
            <a:off x="838200" y="1707833"/>
            <a:ext cx="10515600" cy="4351338"/>
          </a:xfrm>
        </p:spPr>
        <p:txBody>
          <a:bodyPr>
            <a:normAutofit fontScale="92500" lnSpcReduction="20000"/>
          </a:bodyPr>
          <a:lstStyle/>
          <a:p>
            <a:pPr>
              <a:lnSpc>
                <a:spcPct val="150000"/>
              </a:lnSpc>
            </a:pPr>
            <a:r>
              <a:rPr lang="en-IN" sz="2000" dirty="0">
                <a:latin typeface="Yu Gothic Medium" panose="020B0500000000000000" pitchFamily="34" charset="-128"/>
                <a:ea typeface="Yu Gothic Medium" panose="020B0500000000000000" pitchFamily="34" charset="-128"/>
              </a:rPr>
              <a:t>The main objective of our project is to create an organized platform that makes it easier for clients to find suitable freelancers and for freelancers to find suitable projects.</a:t>
            </a:r>
          </a:p>
          <a:p>
            <a:pPr>
              <a:lnSpc>
                <a:spcPct val="150000"/>
              </a:lnSpc>
            </a:pPr>
            <a:r>
              <a:rPr lang="en-IN" sz="2000" dirty="0">
                <a:latin typeface="Yu Gothic Medium" panose="020B0500000000000000" pitchFamily="34" charset="-128"/>
                <a:ea typeface="Yu Gothic Medium" panose="020B0500000000000000" pitchFamily="34" charset="-128"/>
              </a:rPr>
              <a:t>The objective of the proposed system is to develop a reliable and organized platform for connecting clients with suitable freelancers and managing freelance projects efficiently. It aims to simplify job posting, freelancer discovery, proposal submission, selection, and project coordination.</a:t>
            </a:r>
          </a:p>
          <a:p>
            <a:pPr>
              <a:lnSpc>
                <a:spcPct val="150000"/>
              </a:lnSpc>
            </a:pPr>
            <a:r>
              <a:rPr lang="en-IN" sz="2000" dirty="0">
                <a:latin typeface="Yu Gothic Medium" panose="020B0500000000000000" pitchFamily="34" charset="-128"/>
                <a:ea typeface="Yu Gothic Medium" panose="020B0500000000000000" pitchFamily="34" charset="-128"/>
              </a:rPr>
              <a:t>Another objective is to provide secure project and transaction management through contracts, milestones, work submissions, approvals, and escrow payments. The system also aims to maintain accurate records of projects, users, proposals, and reviews while improving transparency, accountability, and trust between clients and freelancers.</a:t>
            </a:r>
          </a:p>
          <a:p>
            <a:pPr>
              <a:lnSpc>
                <a:spcPct val="150000"/>
              </a:lnSpc>
            </a:pPr>
            <a:endParaRPr lang="en-US" sz="2000" dirty="0">
              <a:latin typeface="Yu Gothic Medium" panose="020B0500000000000000" pitchFamily="34" charset="-128"/>
              <a:ea typeface="Yu Gothic Medium" panose="020B0500000000000000" pitchFamily="34" charset="-128"/>
            </a:endParaRPr>
          </a:p>
        </p:txBody>
      </p:sp>
    </p:spTree>
    <p:extLst>
      <p:ext uri="{BB962C8B-B14F-4D97-AF65-F5344CB8AC3E}">
        <p14:creationId xmlns:p14="http://schemas.microsoft.com/office/powerpoint/2010/main" val="2402079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E377E-B28A-2AB9-1E52-312C1B6D0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0CE29-8CD2-1FFC-0567-2D18CBDB16C4}"/>
              </a:ext>
            </a:extLst>
          </p:cNvPr>
          <p:cNvSpPr>
            <a:spLocks noGrp="1"/>
          </p:cNvSpPr>
          <p:nvPr>
            <p:ph type="title"/>
          </p:nvPr>
        </p:nvSpPr>
        <p:spPr>
          <a:xfrm>
            <a:off x="838200" y="114140"/>
            <a:ext cx="10515600" cy="1325563"/>
          </a:xfrm>
        </p:spPr>
        <p:txBody>
          <a:bodyPr>
            <a:normAutofit/>
          </a:bodyPr>
          <a:lstStyle/>
          <a:p>
            <a:pPr algn="ctr"/>
            <a:r>
              <a:rPr lang="en-IN" sz="3600" b="1" dirty="0">
                <a:solidFill>
                  <a:srgbClr val="0070C0"/>
                </a:solidFill>
              </a:rPr>
              <a:t>Modules</a:t>
            </a:r>
            <a:endParaRPr lang="en-IN" sz="3600" dirty="0">
              <a:solidFill>
                <a:srgbClr val="0070C0"/>
              </a:solidFill>
            </a:endParaRPr>
          </a:p>
        </p:txBody>
      </p:sp>
      <p:sp>
        <p:nvSpPr>
          <p:cNvPr id="5" name="Footer Placeholder 4">
            <a:extLst>
              <a:ext uri="{FF2B5EF4-FFF2-40B4-BE49-F238E27FC236}">
                <a16:creationId xmlns:a16="http://schemas.microsoft.com/office/drawing/2014/main" id="{CDFE5840-59B4-6944-E4BB-E2BB1AD677B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FB9982D-9C14-E702-5AE1-C9030BFD26B0}"/>
              </a:ext>
            </a:extLst>
          </p:cNvPr>
          <p:cNvSpPr>
            <a:spLocks noGrp="1"/>
          </p:cNvSpPr>
          <p:nvPr>
            <p:ph type="sldNum" sz="quarter" idx="12"/>
          </p:nvPr>
        </p:nvSpPr>
        <p:spPr/>
        <p:txBody>
          <a:bodyPr/>
          <a:lstStyle/>
          <a:p>
            <a:fld id="{B961B71F-4B40-8942-BB88-E0F5C0B46E10}" type="slidenum">
              <a:rPr lang="en-US" smtClean="0"/>
              <a:t>9</a:t>
            </a:fld>
            <a:endParaRPr lang="en-US"/>
          </a:p>
        </p:txBody>
      </p:sp>
      <p:sp>
        <p:nvSpPr>
          <p:cNvPr id="4" name="Content Placeholder 3">
            <a:extLst>
              <a:ext uri="{FF2B5EF4-FFF2-40B4-BE49-F238E27FC236}">
                <a16:creationId xmlns:a16="http://schemas.microsoft.com/office/drawing/2014/main" id="{D920CCCA-2419-39FC-4F64-F44FEFF2251C}"/>
              </a:ext>
            </a:extLst>
          </p:cNvPr>
          <p:cNvSpPr>
            <a:spLocks noGrp="1"/>
          </p:cNvSpPr>
          <p:nvPr>
            <p:ph idx="1"/>
          </p:nvPr>
        </p:nvSpPr>
        <p:spPr>
          <a:xfrm>
            <a:off x="671483" y="1397316"/>
            <a:ext cx="11194473" cy="4351338"/>
          </a:xfrm>
        </p:spPr>
        <p:txBody>
          <a:bodyPr>
            <a:noAutofit/>
          </a:bodyPr>
          <a:lstStyle/>
          <a:p>
            <a:pPr>
              <a:lnSpc>
                <a:spcPct val="100000"/>
              </a:lnSpc>
            </a:pPr>
            <a:r>
              <a:rPr lang="en-IN" sz="1600" b="1" dirty="0">
                <a:latin typeface="Yu Gothic Medium" panose="020B0500000000000000" pitchFamily="34" charset="-128"/>
                <a:ea typeface="Yu Gothic Medium" panose="020B0500000000000000" pitchFamily="34" charset="-128"/>
              </a:rPr>
              <a:t>User Management</a:t>
            </a:r>
            <a:r>
              <a:rPr lang="en-IN" sz="1600" dirty="0">
                <a:latin typeface="Yu Gothic Medium" panose="020B0500000000000000" pitchFamily="34" charset="-128"/>
                <a:ea typeface="Yu Gothic Medium" panose="020B0500000000000000" pitchFamily="34" charset="-128"/>
              </a:rPr>
              <a:t> – Handles registration, login, profiles, roles, and user account management.</a:t>
            </a:r>
          </a:p>
          <a:p>
            <a:pPr>
              <a:lnSpc>
                <a:spcPct val="100000"/>
              </a:lnSpc>
            </a:pPr>
            <a:r>
              <a:rPr lang="en-IN" sz="1600" b="1" dirty="0">
                <a:latin typeface="Yu Gothic Medium" panose="020B0500000000000000" pitchFamily="34" charset="-128"/>
                <a:ea typeface="Yu Gothic Medium" panose="020B0500000000000000" pitchFamily="34" charset="-128"/>
              </a:rPr>
              <a:t>Project Management</a:t>
            </a:r>
            <a:r>
              <a:rPr lang="en-IN" sz="1600" dirty="0">
                <a:latin typeface="Yu Gothic Medium" panose="020B0500000000000000" pitchFamily="34" charset="-128"/>
                <a:ea typeface="Yu Gothic Medium" panose="020B0500000000000000" pitchFamily="34" charset="-128"/>
              </a:rPr>
              <a:t> – Enables clients to post, update, monitor, and manage projects with requirements, skills, budgets, and deadlines.</a:t>
            </a:r>
          </a:p>
          <a:p>
            <a:pPr>
              <a:lnSpc>
                <a:spcPct val="100000"/>
              </a:lnSpc>
            </a:pPr>
            <a:r>
              <a:rPr lang="en-IN" sz="1600" b="1" dirty="0">
                <a:latin typeface="Yu Gothic Medium" panose="020B0500000000000000" pitchFamily="34" charset="-128"/>
                <a:ea typeface="Yu Gothic Medium" panose="020B0500000000000000" pitchFamily="34" charset="-128"/>
              </a:rPr>
              <a:t>Project Discovery</a:t>
            </a:r>
            <a:r>
              <a:rPr lang="en-IN" sz="1600" dirty="0">
                <a:latin typeface="Yu Gothic Medium" panose="020B0500000000000000" pitchFamily="34" charset="-128"/>
                <a:ea typeface="Yu Gothic Medium" panose="020B0500000000000000" pitchFamily="34" charset="-128"/>
              </a:rPr>
              <a:t> – Helps freelancers search, filter, and find suitable projects based on their skills and preferences.</a:t>
            </a:r>
          </a:p>
          <a:p>
            <a:pPr>
              <a:lnSpc>
                <a:spcPct val="100000"/>
              </a:lnSpc>
            </a:pPr>
            <a:r>
              <a:rPr lang="en-IN" sz="1600" b="1" dirty="0">
                <a:latin typeface="Yu Gothic Medium" panose="020B0500000000000000" pitchFamily="34" charset="-128"/>
                <a:ea typeface="Yu Gothic Medium" panose="020B0500000000000000" pitchFamily="34" charset="-128"/>
              </a:rPr>
              <a:t>Proposal Management</a:t>
            </a:r>
            <a:r>
              <a:rPr lang="en-IN" sz="1600" dirty="0">
                <a:latin typeface="Yu Gothic Medium" panose="020B0500000000000000" pitchFamily="34" charset="-128"/>
                <a:ea typeface="Yu Gothic Medium" panose="020B0500000000000000" pitchFamily="34" charset="-128"/>
              </a:rPr>
              <a:t> – Allows freelancers to submit proposals and clients to compare and evaluate applications.</a:t>
            </a:r>
          </a:p>
          <a:p>
            <a:pPr>
              <a:lnSpc>
                <a:spcPct val="100000"/>
              </a:lnSpc>
            </a:pPr>
            <a:r>
              <a:rPr lang="en-IN" sz="1600" b="1" dirty="0">
                <a:latin typeface="Yu Gothic Medium" panose="020B0500000000000000" pitchFamily="34" charset="-128"/>
                <a:ea typeface="Yu Gothic Medium" panose="020B0500000000000000" pitchFamily="34" charset="-128"/>
              </a:rPr>
              <a:t>Contract Management</a:t>
            </a:r>
            <a:r>
              <a:rPr lang="en-IN" sz="1600" dirty="0">
                <a:latin typeface="Yu Gothic Medium" panose="020B0500000000000000" pitchFamily="34" charset="-128"/>
                <a:ea typeface="Yu Gothic Medium" panose="020B0500000000000000" pitchFamily="34" charset="-128"/>
              </a:rPr>
              <a:t> – Manages freelancer selection, contract creation, project terms, and agreements.</a:t>
            </a:r>
          </a:p>
          <a:p>
            <a:pPr>
              <a:lnSpc>
                <a:spcPct val="100000"/>
              </a:lnSpc>
            </a:pPr>
            <a:r>
              <a:rPr lang="en-IN" sz="1600" b="1" dirty="0">
                <a:latin typeface="Yu Gothic Medium" panose="020B0500000000000000" pitchFamily="34" charset="-128"/>
                <a:ea typeface="Yu Gothic Medium" panose="020B0500000000000000" pitchFamily="34" charset="-128"/>
              </a:rPr>
              <a:t>Milestone Management</a:t>
            </a:r>
            <a:r>
              <a:rPr lang="en-IN" sz="1600" dirty="0">
                <a:latin typeface="Yu Gothic Medium" panose="020B0500000000000000" pitchFamily="34" charset="-128"/>
                <a:ea typeface="Yu Gothic Medium" panose="020B0500000000000000" pitchFamily="34" charset="-128"/>
              </a:rPr>
              <a:t> – Tracks project milestones, deadlines, progress, and completion status.</a:t>
            </a:r>
          </a:p>
          <a:p>
            <a:pPr>
              <a:lnSpc>
                <a:spcPct val="100000"/>
              </a:lnSpc>
            </a:pPr>
            <a:r>
              <a:rPr lang="en-IN" sz="1600" b="1" dirty="0">
                <a:latin typeface="Yu Gothic Medium" panose="020B0500000000000000" pitchFamily="34" charset="-128"/>
                <a:ea typeface="Yu Gothic Medium" panose="020B0500000000000000" pitchFamily="34" charset="-128"/>
              </a:rPr>
              <a:t>Work Submission</a:t>
            </a:r>
            <a:r>
              <a:rPr lang="en-IN" sz="1600" dirty="0">
                <a:latin typeface="Yu Gothic Medium" panose="020B0500000000000000" pitchFamily="34" charset="-128"/>
                <a:ea typeface="Yu Gothic Medium" panose="020B0500000000000000" pitchFamily="34" charset="-128"/>
              </a:rPr>
              <a:t> – Allows freelancers to submit work and clients to review, approve, or request changes.</a:t>
            </a:r>
          </a:p>
          <a:p>
            <a:pPr>
              <a:lnSpc>
                <a:spcPct val="100000"/>
              </a:lnSpc>
            </a:pPr>
            <a:r>
              <a:rPr lang="en-IN" sz="1600" b="1" dirty="0">
                <a:latin typeface="Yu Gothic Medium" panose="020B0500000000000000" pitchFamily="34" charset="-128"/>
                <a:ea typeface="Yu Gothic Medium" panose="020B0500000000000000" pitchFamily="34" charset="-128"/>
              </a:rPr>
              <a:t>Escrow Payment</a:t>
            </a:r>
            <a:r>
              <a:rPr lang="en-IN" sz="1600" dirty="0">
                <a:latin typeface="Yu Gothic Medium" panose="020B0500000000000000" pitchFamily="34" charset="-128"/>
                <a:ea typeface="Yu Gothic Medium" panose="020B0500000000000000" pitchFamily="34" charset="-128"/>
              </a:rPr>
              <a:t> – Holds agreed payments securely and releases them based on project approval.</a:t>
            </a:r>
          </a:p>
          <a:p>
            <a:pPr>
              <a:lnSpc>
                <a:spcPct val="100000"/>
              </a:lnSpc>
            </a:pPr>
            <a:r>
              <a:rPr lang="en-IN" sz="1600" b="1" dirty="0">
                <a:latin typeface="Yu Gothic Medium" panose="020B0500000000000000" pitchFamily="34" charset="-128"/>
                <a:ea typeface="Yu Gothic Medium" panose="020B0500000000000000" pitchFamily="34" charset="-128"/>
              </a:rPr>
              <a:t>Review &amp; Rating</a:t>
            </a:r>
            <a:r>
              <a:rPr lang="en-IN" sz="1600" dirty="0">
                <a:latin typeface="Yu Gothic Medium" panose="020B0500000000000000" pitchFamily="34" charset="-128"/>
                <a:ea typeface="Yu Gothic Medium" panose="020B0500000000000000" pitchFamily="34" charset="-128"/>
              </a:rPr>
              <a:t> – Maintains feedback and ratings to build reputation and improve trust between users.</a:t>
            </a:r>
          </a:p>
          <a:p>
            <a:pPr>
              <a:lnSpc>
                <a:spcPct val="100000"/>
              </a:lnSpc>
            </a:pPr>
            <a:r>
              <a:rPr lang="en-IN" sz="1600" b="1" dirty="0">
                <a:latin typeface="Yu Gothic Medium" panose="020B0500000000000000" pitchFamily="34" charset="-128"/>
                <a:ea typeface="Yu Gothic Medium" panose="020B0500000000000000" pitchFamily="34" charset="-128"/>
              </a:rPr>
              <a:t>Dispute Management</a:t>
            </a:r>
            <a:r>
              <a:rPr lang="en-IN" sz="1600" dirty="0">
                <a:latin typeface="Yu Gothic Medium" panose="020B0500000000000000" pitchFamily="34" charset="-128"/>
                <a:ea typeface="Yu Gothic Medium" panose="020B0500000000000000" pitchFamily="34" charset="-128"/>
              </a:rPr>
              <a:t> – Records and manages conflicts related to projects, work, or payments.</a:t>
            </a:r>
          </a:p>
          <a:p>
            <a:pPr>
              <a:lnSpc>
                <a:spcPct val="100000"/>
              </a:lnSpc>
            </a:pPr>
            <a:r>
              <a:rPr lang="en-IN" sz="1600" b="1" dirty="0">
                <a:latin typeface="Yu Gothic Medium" panose="020B0500000000000000" pitchFamily="34" charset="-128"/>
                <a:ea typeface="Yu Gothic Medium" panose="020B0500000000000000" pitchFamily="34" charset="-128"/>
              </a:rPr>
              <a:t>Transaction &amp; Database Management</a:t>
            </a:r>
            <a:r>
              <a:rPr lang="en-IN" sz="1600" dirty="0">
                <a:latin typeface="Yu Gothic Medium" panose="020B0500000000000000" pitchFamily="34" charset="-128"/>
                <a:ea typeface="Yu Gothic Medium" panose="020B0500000000000000" pitchFamily="34" charset="-128"/>
              </a:rPr>
              <a:t> – Maintains organized records of users, projects, proposals, contracts, payments, reviews, and transactions.</a:t>
            </a:r>
          </a:p>
          <a:p>
            <a:pPr>
              <a:lnSpc>
                <a:spcPct val="100000"/>
              </a:lnSpc>
            </a:pPr>
            <a:endParaRPr lang="en-US" sz="1600" dirty="0">
              <a:latin typeface="Yu Gothic Medium" panose="020B0500000000000000" pitchFamily="34" charset="-128"/>
              <a:ea typeface="Yu Gothic Medium" panose="020B0500000000000000" pitchFamily="34" charset="-128"/>
            </a:endParaRPr>
          </a:p>
        </p:txBody>
      </p:sp>
    </p:spTree>
    <p:extLst>
      <p:ext uri="{BB962C8B-B14F-4D97-AF65-F5344CB8AC3E}">
        <p14:creationId xmlns:p14="http://schemas.microsoft.com/office/powerpoint/2010/main" val="1063077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D793-788A-0BBE-1A25-0D6B7B4B4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7695C-2E9D-0BEB-6476-FC1A6852DA62}"/>
              </a:ext>
            </a:extLst>
          </p:cNvPr>
          <p:cNvSpPr>
            <a:spLocks noGrp="1"/>
          </p:cNvSpPr>
          <p:nvPr>
            <p:ph type="title"/>
          </p:nvPr>
        </p:nvSpPr>
        <p:spPr/>
        <p:txBody>
          <a:bodyPr>
            <a:normAutofit/>
          </a:bodyPr>
          <a:lstStyle/>
          <a:p>
            <a:pPr algn="ctr"/>
            <a:r>
              <a:rPr lang="en-IN" sz="3200" b="1" dirty="0">
                <a:solidFill>
                  <a:srgbClr val="0070C0"/>
                </a:solidFill>
              </a:rPr>
              <a:t>SOFTWARE REQUIREMENTS </a:t>
            </a:r>
            <a:endParaRPr lang="en-IN" sz="3200" dirty="0">
              <a:solidFill>
                <a:srgbClr val="0070C0"/>
              </a:solidFill>
            </a:endParaRPr>
          </a:p>
        </p:txBody>
      </p:sp>
      <p:sp>
        <p:nvSpPr>
          <p:cNvPr id="5" name="Footer Placeholder 4">
            <a:extLst>
              <a:ext uri="{FF2B5EF4-FFF2-40B4-BE49-F238E27FC236}">
                <a16:creationId xmlns:a16="http://schemas.microsoft.com/office/drawing/2014/main" id="{2D729F55-DE57-8408-42F6-4E0FBAB3050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3623B38-760E-3758-6704-655E2B69F64B}"/>
              </a:ext>
            </a:extLst>
          </p:cNvPr>
          <p:cNvSpPr>
            <a:spLocks noGrp="1"/>
          </p:cNvSpPr>
          <p:nvPr>
            <p:ph type="sldNum" sz="quarter" idx="12"/>
          </p:nvPr>
        </p:nvSpPr>
        <p:spPr/>
        <p:txBody>
          <a:bodyPr/>
          <a:lstStyle/>
          <a:p>
            <a:fld id="{B961B71F-4B40-8942-BB88-E0F5C0B46E10}" type="slidenum">
              <a:rPr lang="en-US" smtClean="0"/>
              <a:t>10</a:t>
            </a:fld>
            <a:endParaRPr lang="en-US"/>
          </a:p>
        </p:txBody>
      </p:sp>
      <p:sp>
        <p:nvSpPr>
          <p:cNvPr id="4" name="Content Placeholder 3">
            <a:extLst>
              <a:ext uri="{FF2B5EF4-FFF2-40B4-BE49-F238E27FC236}">
                <a16:creationId xmlns:a16="http://schemas.microsoft.com/office/drawing/2014/main" id="{68B3C331-E06F-D027-E4C0-6920D37072A9}"/>
              </a:ext>
            </a:extLst>
          </p:cNvPr>
          <p:cNvSpPr>
            <a:spLocks noGrp="1"/>
          </p:cNvSpPr>
          <p:nvPr>
            <p:ph idx="1"/>
          </p:nvPr>
        </p:nvSpPr>
        <p:spPr>
          <a:xfrm>
            <a:off x="838200" y="1825625"/>
            <a:ext cx="10934700" cy="4351338"/>
          </a:xfrm>
        </p:spPr>
        <p:txBody>
          <a:bodyPr>
            <a:normAutofit/>
          </a:bodyPr>
          <a:lstStyle/>
          <a:p>
            <a:pPr>
              <a:lnSpc>
                <a:spcPct val="100000"/>
              </a:lnSpc>
            </a:pPr>
            <a:r>
              <a:rPr lang="en-IN" sz="2000" b="1" dirty="0">
                <a:latin typeface="Yu Gothic Medium" panose="020B0500000000000000" pitchFamily="34" charset="-128"/>
                <a:ea typeface="Yu Gothic Medium" panose="020B0500000000000000" pitchFamily="34" charset="-128"/>
              </a:rPr>
              <a:t>Operating System</a:t>
            </a:r>
            <a:r>
              <a:rPr lang="en-IN" sz="2000" dirty="0">
                <a:latin typeface="Yu Gothic Medium" panose="020B0500000000000000" pitchFamily="34" charset="-128"/>
                <a:ea typeface="Yu Gothic Medium" panose="020B0500000000000000" pitchFamily="34" charset="-128"/>
              </a:rPr>
              <a:t> – Windows 10/11, Linux, or macOS.</a:t>
            </a:r>
          </a:p>
          <a:p>
            <a:pPr>
              <a:lnSpc>
                <a:spcPct val="100000"/>
              </a:lnSpc>
            </a:pPr>
            <a:r>
              <a:rPr lang="en-IN" sz="2000" b="1" dirty="0">
                <a:latin typeface="Yu Gothic Medium" panose="020B0500000000000000" pitchFamily="34" charset="-128"/>
                <a:ea typeface="Yu Gothic Medium" panose="020B0500000000000000" pitchFamily="34" charset="-128"/>
              </a:rPr>
              <a:t>Frontend</a:t>
            </a:r>
            <a:r>
              <a:rPr lang="en-IN" sz="2000" dirty="0">
                <a:latin typeface="Yu Gothic Medium" panose="020B0500000000000000" pitchFamily="34" charset="-128"/>
                <a:ea typeface="Yu Gothic Medium" panose="020B0500000000000000" pitchFamily="34" charset="-128"/>
              </a:rPr>
              <a:t> – React.js, HTML5, CSS3, and JavaScript.</a:t>
            </a:r>
          </a:p>
          <a:p>
            <a:pPr>
              <a:lnSpc>
                <a:spcPct val="100000"/>
              </a:lnSpc>
            </a:pPr>
            <a:r>
              <a:rPr lang="en-IN" sz="2000" b="1" dirty="0">
                <a:latin typeface="Yu Gothic Medium" panose="020B0500000000000000" pitchFamily="34" charset="-128"/>
                <a:ea typeface="Yu Gothic Medium" panose="020B0500000000000000" pitchFamily="34" charset="-128"/>
              </a:rPr>
              <a:t>Backend</a:t>
            </a:r>
            <a:r>
              <a:rPr lang="en-IN" sz="2000" dirty="0">
                <a:latin typeface="Yu Gothic Medium" panose="020B0500000000000000" pitchFamily="34" charset="-128"/>
                <a:ea typeface="Yu Gothic Medium" panose="020B0500000000000000" pitchFamily="34" charset="-128"/>
              </a:rPr>
              <a:t> – Node.js with Express.js.</a:t>
            </a:r>
          </a:p>
          <a:p>
            <a:pPr>
              <a:lnSpc>
                <a:spcPct val="100000"/>
              </a:lnSpc>
            </a:pPr>
            <a:r>
              <a:rPr lang="en-IN" sz="2000" b="1" dirty="0">
                <a:latin typeface="Yu Gothic Medium" panose="020B0500000000000000" pitchFamily="34" charset="-128"/>
                <a:ea typeface="Yu Gothic Medium" panose="020B0500000000000000" pitchFamily="34" charset="-128"/>
              </a:rPr>
              <a:t>Database</a:t>
            </a:r>
            <a:r>
              <a:rPr lang="en-IN" sz="2000" dirty="0">
                <a:latin typeface="Yu Gothic Medium" panose="020B0500000000000000" pitchFamily="34" charset="-128"/>
                <a:ea typeface="Yu Gothic Medium" panose="020B0500000000000000" pitchFamily="34" charset="-128"/>
              </a:rPr>
              <a:t> – MySQL for storing users, projects, proposals, contracts, milestones, payments, and reviews.</a:t>
            </a:r>
          </a:p>
          <a:p>
            <a:pPr>
              <a:lnSpc>
                <a:spcPct val="100000"/>
              </a:lnSpc>
            </a:pPr>
            <a:r>
              <a:rPr lang="en-IN" sz="2000" b="1" dirty="0">
                <a:latin typeface="Yu Gothic Medium" panose="020B0500000000000000" pitchFamily="34" charset="-128"/>
                <a:ea typeface="Yu Gothic Medium" panose="020B0500000000000000" pitchFamily="34" charset="-128"/>
              </a:rPr>
              <a:t>Database Connectivity</a:t>
            </a:r>
            <a:r>
              <a:rPr lang="en-IN" sz="2000" dirty="0">
                <a:latin typeface="Yu Gothic Medium" panose="020B0500000000000000" pitchFamily="34" charset="-128"/>
                <a:ea typeface="Yu Gothic Medium" panose="020B0500000000000000" pitchFamily="34" charset="-128"/>
              </a:rPr>
              <a:t> – MySQL driver/ORM for communication between Node.js and MySQL.</a:t>
            </a:r>
          </a:p>
          <a:p>
            <a:pPr>
              <a:lnSpc>
                <a:spcPct val="100000"/>
              </a:lnSpc>
            </a:pPr>
            <a:r>
              <a:rPr lang="en-IN" sz="2000" b="1" dirty="0">
                <a:latin typeface="Yu Gothic Medium" panose="020B0500000000000000" pitchFamily="34" charset="-128"/>
                <a:ea typeface="Yu Gothic Medium" panose="020B0500000000000000" pitchFamily="34" charset="-128"/>
              </a:rPr>
              <a:t>Development Tools</a:t>
            </a:r>
            <a:r>
              <a:rPr lang="en-IN" sz="2000" dirty="0">
                <a:latin typeface="Yu Gothic Medium" panose="020B0500000000000000" pitchFamily="34" charset="-128"/>
                <a:ea typeface="Yu Gothic Medium" panose="020B0500000000000000" pitchFamily="34" charset="-128"/>
              </a:rPr>
              <a:t> – Visual Studio Code, MySQL Workbench, and </a:t>
            </a:r>
            <a:r>
              <a:rPr lang="en-IN" sz="2000" dirty="0" err="1">
                <a:latin typeface="Yu Gothic Medium" panose="020B0500000000000000" pitchFamily="34" charset="-128"/>
                <a:ea typeface="Yu Gothic Medium" panose="020B0500000000000000" pitchFamily="34" charset="-128"/>
              </a:rPr>
              <a:t>npm</a:t>
            </a:r>
            <a:r>
              <a:rPr lang="en-IN" sz="2000" dirty="0">
                <a:latin typeface="Yu Gothic Medium" panose="020B0500000000000000" pitchFamily="34" charset="-128"/>
                <a:ea typeface="Yu Gothic Medium" panose="020B0500000000000000" pitchFamily="34" charset="-128"/>
              </a:rPr>
              <a:t>.</a:t>
            </a:r>
          </a:p>
          <a:p>
            <a:pPr>
              <a:lnSpc>
                <a:spcPct val="100000"/>
              </a:lnSpc>
            </a:pPr>
            <a:r>
              <a:rPr lang="en-IN" sz="2000" b="1" dirty="0">
                <a:latin typeface="Yu Gothic Medium" panose="020B0500000000000000" pitchFamily="34" charset="-128"/>
                <a:ea typeface="Yu Gothic Medium" panose="020B0500000000000000" pitchFamily="34" charset="-128"/>
              </a:rPr>
              <a:t>Web Browser</a:t>
            </a:r>
            <a:r>
              <a:rPr lang="en-IN" sz="2000" dirty="0">
                <a:latin typeface="Yu Gothic Medium" panose="020B0500000000000000" pitchFamily="34" charset="-128"/>
                <a:ea typeface="Yu Gothic Medium" panose="020B0500000000000000" pitchFamily="34" charset="-128"/>
              </a:rPr>
              <a:t> – Google Chrome, Microsoft Edge, or Mozilla Firefox.</a:t>
            </a:r>
          </a:p>
          <a:p>
            <a:pPr>
              <a:lnSpc>
                <a:spcPct val="100000"/>
              </a:lnSpc>
            </a:pPr>
            <a:r>
              <a:rPr lang="en-IN" sz="2000" b="1" dirty="0">
                <a:latin typeface="Yu Gothic Medium" panose="020B0500000000000000" pitchFamily="34" charset="-128"/>
                <a:ea typeface="Yu Gothic Medium" panose="020B0500000000000000" pitchFamily="34" charset="-128"/>
              </a:rPr>
              <a:t>Version Control</a:t>
            </a:r>
            <a:r>
              <a:rPr lang="en-IN" sz="2000" dirty="0">
                <a:latin typeface="Yu Gothic Medium" panose="020B0500000000000000" pitchFamily="34" charset="-128"/>
                <a:ea typeface="Yu Gothic Medium" panose="020B0500000000000000" pitchFamily="34" charset="-128"/>
              </a:rPr>
              <a:t> – Git and GitHub for source-code management and collaboration.</a:t>
            </a:r>
          </a:p>
          <a:p>
            <a:pPr marL="0" indent="0">
              <a:lnSpc>
                <a:spcPct val="100000"/>
              </a:lnSpc>
              <a:buNone/>
            </a:pPr>
            <a:endParaRPr lang="en-US" sz="2000" dirty="0">
              <a:latin typeface="Yu Gothic Medium" panose="020B0500000000000000" pitchFamily="34" charset="-128"/>
              <a:ea typeface="Yu Gothic Medium" panose="020B0500000000000000" pitchFamily="34" charset="-128"/>
            </a:endParaRPr>
          </a:p>
        </p:txBody>
      </p:sp>
    </p:spTree>
    <p:extLst>
      <p:ext uri="{BB962C8B-B14F-4D97-AF65-F5344CB8AC3E}">
        <p14:creationId xmlns:p14="http://schemas.microsoft.com/office/powerpoint/2010/main" val="1098968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5F8C2-111B-5352-5128-7126DF285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54D73-0C98-1BCC-AF71-A634817E2D28}"/>
              </a:ext>
            </a:extLst>
          </p:cNvPr>
          <p:cNvSpPr>
            <a:spLocks noGrp="1"/>
          </p:cNvSpPr>
          <p:nvPr>
            <p:ph type="title"/>
          </p:nvPr>
        </p:nvSpPr>
        <p:spPr>
          <a:xfrm>
            <a:off x="2763309" y="567746"/>
            <a:ext cx="6564573" cy="805366"/>
          </a:xfrm>
        </p:spPr>
        <p:txBody>
          <a:bodyPr anchor="ctr">
            <a:noAutofit/>
          </a:bodyPr>
          <a:lstStyle/>
          <a:p>
            <a:pPr algn="ctr"/>
            <a:r>
              <a:rPr lang="en-US" sz="3600" b="1" dirty="0">
                <a:solidFill>
                  <a:srgbClr val="0070C0"/>
                </a:solidFill>
              </a:rPr>
              <a:t>CONCLUSION AND FUTURE SCOPE</a:t>
            </a:r>
            <a:endParaRPr lang="en-US" sz="4000" b="1" dirty="0">
              <a:solidFill>
                <a:srgbClr val="0070C0"/>
              </a:solidFill>
            </a:endParaRPr>
          </a:p>
        </p:txBody>
      </p:sp>
      <p:sp>
        <p:nvSpPr>
          <p:cNvPr id="13" name="Slide Number Placeholder 5">
            <a:extLst>
              <a:ext uri="{FF2B5EF4-FFF2-40B4-BE49-F238E27FC236}">
                <a16:creationId xmlns:a16="http://schemas.microsoft.com/office/drawing/2014/main" id="{2DA0B0B4-0323-82D4-C481-9A75F01F0480}"/>
              </a:ext>
            </a:extLst>
          </p:cNvPr>
          <p:cNvSpPr>
            <a:spLocks noGrp="1"/>
          </p:cNvSpPr>
          <p:nvPr>
            <p:ph type="sldNum" sz="quarter" idx="12"/>
          </p:nvPr>
        </p:nvSpPr>
        <p:spPr>
          <a:xfrm>
            <a:off x="8610600" y="6356350"/>
            <a:ext cx="2743200" cy="365125"/>
          </a:xfrm>
        </p:spPr>
        <p:txBody>
          <a:bodyPr/>
          <a:lstStyle/>
          <a:p>
            <a:pPr>
              <a:spcAft>
                <a:spcPts val="600"/>
              </a:spcAft>
            </a:pPr>
            <a:fld id="{B961B71F-4B40-8942-BB88-E0F5C0B46E10}" type="slidenum">
              <a:rPr lang="en-US" smtClean="0"/>
              <a:pPr>
                <a:spcAft>
                  <a:spcPts val="600"/>
                </a:spcAft>
              </a:pPr>
              <a:t>11</a:t>
            </a:fld>
            <a:endParaRPr lang="en-US" dirty="0"/>
          </a:p>
        </p:txBody>
      </p:sp>
      <p:sp>
        <p:nvSpPr>
          <p:cNvPr id="4" name="TextBox 3">
            <a:extLst>
              <a:ext uri="{FF2B5EF4-FFF2-40B4-BE49-F238E27FC236}">
                <a16:creationId xmlns:a16="http://schemas.microsoft.com/office/drawing/2014/main" id="{66FD6716-35D5-96CF-8E5F-6C69ACC2F955}"/>
              </a:ext>
            </a:extLst>
          </p:cNvPr>
          <p:cNvSpPr txBox="1"/>
          <p:nvPr/>
        </p:nvSpPr>
        <p:spPr>
          <a:xfrm>
            <a:off x="995614" y="1357968"/>
            <a:ext cx="10496731" cy="5084533"/>
          </a:xfrm>
          <a:prstGeom prst="rect">
            <a:avLst/>
          </a:prstGeom>
          <a:noFill/>
        </p:spPr>
        <p:txBody>
          <a:bodyPr wrap="square">
            <a:spAutoFit/>
          </a:bodyPr>
          <a:lstStyle/>
          <a:p>
            <a:pPr>
              <a:lnSpc>
                <a:spcPct val="150000"/>
              </a:lnSpc>
              <a:buNone/>
            </a:pPr>
            <a:r>
              <a:rPr lang="en-IN" sz="2000" b="1" dirty="0">
                <a:latin typeface="Yu Gothic Medium" panose="020B0500000000000000" pitchFamily="34" charset="-128"/>
                <a:ea typeface="Yu Gothic Medium" panose="020B0500000000000000" pitchFamily="34" charset="-128"/>
              </a:rPr>
              <a:t>Conclusion:</a:t>
            </a:r>
            <a:br>
              <a:rPr lang="en-IN" sz="2000" dirty="0">
                <a:latin typeface="Yu Gothic Medium" panose="020B0500000000000000" pitchFamily="34" charset="-128"/>
                <a:ea typeface="Yu Gothic Medium" panose="020B0500000000000000" pitchFamily="34" charset="-128"/>
              </a:rPr>
            </a:br>
            <a:r>
              <a:rPr lang="en-IN" dirty="0">
                <a:latin typeface="Yu Gothic Medium" panose="020B0500000000000000" pitchFamily="34" charset="-128"/>
                <a:ea typeface="Yu Gothic Medium" panose="020B0500000000000000" pitchFamily="34" charset="-128"/>
              </a:rPr>
              <a:t>The Freelance Marketplace with Escrow Payments provides a structured platform for managing the complete freelance project lifecycle, from job posting and proposal submission to contract management, milestone tracking, work approval, and payment release. By bringing these activities into a single system, the project improves organization, transparency, security, and trust between clients and freelancers.</a:t>
            </a:r>
          </a:p>
          <a:p>
            <a:pPr>
              <a:lnSpc>
                <a:spcPct val="150000"/>
              </a:lnSpc>
              <a:buNone/>
            </a:pPr>
            <a:r>
              <a:rPr lang="en-IN" b="1" dirty="0">
                <a:latin typeface="Yu Gothic Medium" panose="020B0500000000000000" pitchFamily="34" charset="-128"/>
                <a:ea typeface="Yu Gothic Medium" panose="020B0500000000000000" pitchFamily="34" charset="-128"/>
              </a:rPr>
              <a:t>Future Scope:</a:t>
            </a:r>
            <a:br>
              <a:rPr lang="en-IN" dirty="0">
                <a:latin typeface="Yu Gothic Medium" panose="020B0500000000000000" pitchFamily="34" charset="-128"/>
                <a:ea typeface="Yu Gothic Medium" panose="020B0500000000000000" pitchFamily="34" charset="-128"/>
              </a:rPr>
            </a:br>
            <a:r>
              <a:rPr lang="en-IN" dirty="0">
                <a:latin typeface="Yu Gothic Medium" panose="020B0500000000000000" pitchFamily="34" charset="-128"/>
                <a:ea typeface="Yu Gothic Medium" panose="020B0500000000000000" pitchFamily="34" charset="-128"/>
              </a:rPr>
              <a:t>The system can be further enhanced by adding AI-based freelancer and project recommendations, automated proposal matching, real-time chat and notifications, advanced analytics, multiple payment gateways, mobile application support, automated dispute resolution, and stronger identity verification. These features can make the platform more intelligent, scalable, and user-friendly.</a:t>
            </a:r>
          </a:p>
        </p:txBody>
      </p:sp>
    </p:spTree>
    <p:extLst>
      <p:ext uri="{BB962C8B-B14F-4D97-AF65-F5344CB8AC3E}">
        <p14:creationId xmlns:p14="http://schemas.microsoft.com/office/powerpoint/2010/main" val="1749009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b="1" dirty="0">
                <a:solidFill>
                  <a:srgbClr val="0070C0"/>
                </a:solidFill>
              </a:rPr>
              <a:t>THANK YOU</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9396</TotalTime>
  <Words>1286</Words>
  <Application>Microsoft Office PowerPoint</Application>
  <PresentationFormat>Widescreen</PresentationFormat>
  <Paragraphs>134</Paragraphs>
  <Slides>12</Slides>
  <Notes>10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12</vt:i4>
      </vt:variant>
    </vt:vector>
  </HeadingPairs>
  <TitlesOfParts>
    <vt:vector size="18" baseType="lpstr">
      <vt:lpstr>Yu Gothic Medium</vt:lpstr>
      <vt:lpstr>Arial</vt:lpstr>
      <vt:lpstr>Calibri</vt:lpstr>
      <vt:lpstr>Calibri Light</vt:lpstr>
      <vt:lpstr>Office Theme</vt:lpstr>
      <vt:lpstr>Custom Design</vt:lpstr>
      <vt:lpstr> 1st  REVIEW Freelance Marketplace with Escrow Payments </vt:lpstr>
      <vt:lpstr>GROUP NUMBER:14 </vt:lpstr>
      <vt:lpstr>ABSTRACT</vt:lpstr>
      <vt:lpstr>INTRDOUCTION</vt:lpstr>
      <vt:lpstr>EXISTING SYSTEM</vt:lpstr>
      <vt:lpstr>PROBLEM</vt:lpstr>
      <vt:lpstr>SOLUTION(Contribution)</vt:lpstr>
      <vt:lpstr>Objectives </vt:lpstr>
      <vt:lpstr>Modules</vt:lpstr>
      <vt:lpstr>SOFTWARE REQUIREMENTS </vt:lpstr>
      <vt:lpstr>CONCLUSION AND 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ALLURU AKSHAYA</cp:lastModifiedBy>
  <cp:revision>107</cp:revision>
  <dcterms:created xsi:type="dcterms:W3CDTF">2022-05-20T10:20:31Z</dcterms:created>
  <dcterms:modified xsi:type="dcterms:W3CDTF">2026-08-25T03:12:39Z</dcterms:modified>
</cp:coreProperties>
</file>